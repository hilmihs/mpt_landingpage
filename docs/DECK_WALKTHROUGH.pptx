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0">
                <a:solidFill>
                  <a:srgbClr val="E5C480"/>
                </a:solidFill>
                <a:latin typeface="Traditional Arabic"/>
              </a:rPr>
              <a:t>بِسْمِ ٱللَّهِ ٱلرَّحْمَٰنِ ٱلرَّحِيمِ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8860B"/>
                </a:solidFill>
                <a:latin typeface="Calibri"/>
              </a:rPr>
              <a:t>WALKTHROUGH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Assessment Al-Fatihah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E5C480"/>
                </a:solidFill>
                <a:latin typeface="Calibri"/>
              </a:rPr>
              <a:t>Perjalanan peserta dan pengajar, dari merekam sampai rapot diterima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4343400"/>
            <a:ext cx="2286000" cy="3657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Sudah berjalan di production · 4 Agustus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959CA8"/>
                </a:solidFill>
                <a:latin typeface="Calibri"/>
              </a:rPr>
              <a:t>Tangkapan layar diambil langsung dari sistem yang hidup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C480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5C480"/>
                </a:solidFill>
                <a:latin typeface="Calibri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PETA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Satu halaman untuk seluruh alur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Tiga pelaku: peserta, sistem, pengajar. Semua langkah di bawah sudah otomatis kecuali yang bertanda tangan manusia.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1417320" cy="1143000"/>
          </a:xfrm>
          <a:prstGeom prst="roundRect">
            <a:avLst>
              <a:gd name="adj" fmla="val 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4173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PESERTA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1417320" cy="1143000"/>
          </a:xfrm>
          <a:prstGeom prst="roundRect">
            <a:avLst>
              <a:gd name="adj" fmla="val 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14173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SISTEM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1417320" cy="1143000"/>
          </a:xfrm>
          <a:prstGeom prst="roundRect">
            <a:avLst>
              <a:gd name="adj" fmla="val 5000"/>
            </a:avLst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14173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PENGAJAR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40280" y="1783080"/>
            <a:ext cx="17373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0008" y="1783080"/>
            <a:ext cx="1517904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1 · Rekam
bacaan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783080"/>
            <a:ext cx="17373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783080"/>
            <a:ext cx="1517904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2 · Isi data
+ nomor WA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108960"/>
            <a:ext cx="17373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3108960"/>
            <a:ext cx="1517904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B8860B"/>
                </a:solidFill>
                <a:latin typeface="Calibri"/>
              </a:rPr>
              <a:t>3 · Audio disimpan
+ tugas dibagi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108960"/>
            <a:ext cx="17373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0727" y="3108960"/>
            <a:ext cx="1517904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B8860B"/>
                </a:solidFill>
                <a:latin typeface="Calibri"/>
              </a:rPr>
              <a:t>4 · WA ke
dua pihak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4434840"/>
            <a:ext cx="17373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28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0488" y="4434840"/>
            <a:ext cx="1517904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2863A"/>
                </a:solidFill>
                <a:latin typeface="Calibri"/>
              </a:rPr>
              <a:t>5 · Dengar +
centang temuan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4434840"/>
            <a:ext cx="17373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28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7" y="4434840"/>
            <a:ext cx="1517904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22863A"/>
                </a:solidFill>
                <a:latin typeface="Calibri"/>
              </a:rPr>
              <a:t>6 · Simpan
penilaian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1783080"/>
            <a:ext cx="173736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30967" y="1783080"/>
            <a:ext cx="1517904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Calibri"/>
              </a:rPr>
              <a:t>7 · Rapot
diterima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023360" y="2240280"/>
            <a:ext cx="274320" cy="219456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9784080" y="2240280"/>
            <a:ext cx="274320" cy="219456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7863840" y="3566160"/>
            <a:ext cx="274320" cy="219456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>
            <a:off x="7863840" y="4892040"/>
            <a:ext cx="274320" cy="219456"/>
          </a:xfrm>
          <a:prstGeom prst="rightArrow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5806440"/>
            <a:ext cx="11064240" cy="411480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555A66"/>
                </a:solidFill>
                <a:latin typeface="Calibri"/>
              </a:rPr>
              <a:t>Langkah 5 satu-satunya yang dikerjakan manusia. Sisanya berjalan sendiri.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8860B"/>
                </a:solidFill>
                <a:latin typeface="Calibri"/>
              </a:rPr>
              <a:t>BAGIAN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Perjalanan Peserta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5C480"/>
                </a:solidFill>
                <a:latin typeface="Calibri"/>
              </a:rPr>
              <a:t>Empat layar, sekitar tiga menit — lalu menunggu kabar lewat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C480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5C480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Halaman depan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Titik masuk. Peserta mengenal apa yang akan dinilai sebelum mulai.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01612" y="1737360"/>
            <a:ext cx="2077334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32" y="1783080"/>
            <a:ext cx="1985894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80" y="1874519"/>
            <a:ext cx="352044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874519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9514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Yang dilihat peserta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670048"/>
            <a:ext cx="709574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Ajakan utama “Mulai Assessment Gratis” langsung menuju halaman persetujuan.</a:t>
            </a:r>
          </a:p>
        </p:txBody>
      </p:sp>
      <p:sp>
        <p:nvSpPr>
          <p:cNvPr id="13" name="Oval 12"/>
          <p:cNvSpPr/>
          <p:nvPr/>
        </p:nvSpPr>
        <p:spPr>
          <a:xfrm>
            <a:off x="432511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3022663"/>
            <a:ext cx="709574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Empat indikator dijelaskan lebih dulu, jadi peserta tahu yang dinilai apa saja.</a:t>
            </a:r>
          </a:p>
        </p:txBody>
      </p:sp>
      <p:sp>
        <p:nvSpPr>
          <p:cNvPr id="15" name="Oval 14"/>
          <p:cNvSpPr/>
          <p:nvPr/>
        </p:nvSpPr>
        <p:spPr>
          <a:xfrm>
            <a:off x="4325112" y="3095815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3375279"/>
            <a:ext cx="709574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Catatan: sebagian teks di sini masih menjanjikan rapot AI 30 detik — perlu disesuaikan dengan alur baru yang dinilai pengajar.</a:t>
            </a:r>
          </a:p>
        </p:txBody>
      </p:sp>
      <p:sp>
        <p:nvSpPr>
          <p:cNvPr id="17" name="Oval 16"/>
          <p:cNvSpPr/>
          <p:nvPr/>
        </p:nvSpPr>
        <p:spPr>
          <a:xfrm>
            <a:off x="4325112" y="3448431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Persetujuan privasi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Wajib disetujui sebelum merekam. Ini yang memenuhi UU PDP.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27847" y="1737360"/>
            <a:ext cx="1624865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cons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567" y="1783080"/>
            <a:ext cx="1533425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80" y="1874519"/>
            <a:ext cx="1751076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874519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/assessment/consent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9514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Empat janji yang dinyatakan terbuka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670048"/>
            <a:ext cx="709574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Audio disimpan paling lama 7 hari, lalu terhapus otomatis.</a:t>
            </a:r>
          </a:p>
        </p:txBody>
      </p:sp>
      <p:sp>
        <p:nvSpPr>
          <p:cNvPr id="13" name="Oval 12"/>
          <p:cNvSpPr/>
          <p:nvPr/>
        </p:nvSpPr>
        <p:spPr>
          <a:xfrm>
            <a:off x="432511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3022663"/>
            <a:ext cx="709574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Rekaman tidak dibagikan ke pihak ketiga.</a:t>
            </a:r>
          </a:p>
        </p:txBody>
      </p:sp>
      <p:sp>
        <p:nvSpPr>
          <p:cNvPr id="15" name="Oval 14"/>
          <p:cNvSpPr/>
          <p:nvPr/>
        </p:nvSpPr>
        <p:spPr>
          <a:xfrm>
            <a:off x="4325112" y="3095815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3375279"/>
            <a:ext cx="709574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Nama dan nomor WA dipakai hanya untuk mengirim hasil.</a:t>
            </a:r>
          </a:p>
        </p:txBody>
      </p:sp>
      <p:sp>
        <p:nvSpPr>
          <p:cNvPr id="17" name="Oval 16"/>
          <p:cNvSpPr/>
          <p:nvPr/>
        </p:nvSpPr>
        <p:spPr>
          <a:xfrm>
            <a:off x="4325112" y="3448431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3727894"/>
            <a:ext cx="709574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Hasilnya referensi belajar, bukan pengganti pengajar.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3801046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Merekam bacaan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Teks Al-Fatihah ditampilkan utuh supaya peserta tidak perlu membuka mushaf lain.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62106" y="1737360"/>
            <a:ext cx="1756347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826" y="1783080"/>
            <a:ext cx="1664907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80" y="1874519"/>
            <a:ext cx="1673352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874519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/assessment/record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9514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Yang membantu peserta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670048"/>
            <a:ext cx="709574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Tujuh ayat tampil lengkap dengan harakat, plus tombol terjemahan.</a:t>
            </a:r>
          </a:p>
        </p:txBody>
      </p:sp>
      <p:sp>
        <p:nvSpPr>
          <p:cNvPr id="13" name="Oval 12"/>
          <p:cNvSpPr/>
          <p:nvPr/>
        </p:nvSpPr>
        <p:spPr>
          <a:xfrm>
            <a:off x="432511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3022663"/>
            <a:ext cx="709574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Boleh direkam ulang sebanyak yang diperlukan — tidak ada batas percobaan.</a:t>
            </a:r>
          </a:p>
        </p:txBody>
      </p:sp>
      <p:sp>
        <p:nvSpPr>
          <p:cNvPr id="15" name="Oval 14"/>
          <p:cNvSpPr/>
          <p:nvPr/>
        </p:nvSpPr>
        <p:spPr>
          <a:xfrm>
            <a:off x="4325112" y="3095815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3375279"/>
            <a:ext cx="709574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Gelombang suara bergerak saat merekam, jadi peserta yakin suaranya tertangkap.</a:t>
            </a:r>
          </a:p>
        </p:txBody>
      </p:sp>
      <p:sp>
        <p:nvSpPr>
          <p:cNvPr id="17" name="Oval 16"/>
          <p:cNvSpPr/>
          <p:nvPr/>
        </p:nvSpPr>
        <p:spPr>
          <a:xfrm>
            <a:off x="4325112" y="3448431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Data peserta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Layar terakhir sebelum rekaman dikirim. Hanya tiga isian.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1206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TIGA ISIAN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0604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F8F4E9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7614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Nama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0632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A66"/>
                </a:solidFill>
                <a:latin typeface="Calibri"/>
              </a:rPr>
              <a:t>Dipakai menyapa peserta di rapot dan pesan WhatsApp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F8F4E9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81304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Jenis Kelamin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1480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A66"/>
                </a:solidFill>
                <a:latin typeface="Calibri"/>
              </a:rPr>
              <a:t>Ikhwan atau akhwat — menentukan pengajar yang menilai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709160"/>
            <a:ext cx="4572000" cy="868680"/>
          </a:xfrm>
          <a:prstGeom prst="roundRect">
            <a:avLst>
              <a:gd name="adj" fmla="val 5000"/>
            </a:avLst>
          </a:prstGeom>
          <a:solidFill>
            <a:srgbClr val="F8F4E9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86460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Nomor WhatsApp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16636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A66"/>
                </a:solidFill>
                <a:latin typeface="Calibri"/>
              </a:rPr>
              <a:t>Awalan +62 sudah terpasang, peserta tinggal melanjutkan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74519"/>
            <a:ext cx="1517904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1874519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/assessment/form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295144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Kenapa layar ini tidak difoto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670048"/>
            <a:ext cx="5084064" cy="88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Halaman ini hanya bisa dibuka kalau ada rekaman di memori browser. Rekaman itu sengaja TIDAK disimpan ke penyimpanan browser — keputusan privasi, supaya audio hilang saat tab ditutup.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614165"/>
            <a:ext cx="5084064" cy="682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Akibatnya layar ini tidak bisa dijangkau alat otomatis tanpa mikrofon sungguhan. Isinya digambarkan apa adanya di sebelah.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3687318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28816" y="4361116"/>
            <a:ext cx="508406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Setelah dikirim, peserta diarahkan ke layar tunggu dan langsung menerima WhatsApp.</a:t>
            </a:r>
          </a:p>
        </p:txBody>
      </p:sp>
      <p:sp>
        <p:nvSpPr>
          <p:cNvPr id="26" name="Oval 25"/>
          <p:cNvSpPr/>
          <p:nvPr/>
        </p:nvSpPr>
        <p:spPr>
          <a:xfrm>
            <a:off x="6336792" y="4434268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Konfirmasi masuk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Terkirim otomatis begitu rekaman diterima — peserta tidak dibiarkan menebak.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64125" y="1783080"/>
            <a:ext cx="5592789" cy="42976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wa-diteri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45" y="1828800"/>
            <a:ext cx="5501349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874519"/>
            <a:ext cx="2295144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874519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otomatis · lib/whatsapp.ts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9514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Kenapa pesan ini 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670048"/>
            <a:ext cx="3346704" cy="88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Penilaian dikerjakan manusia, jadi jedanya berhari-hari, bukan 30 detik. Tanpa kabar, peserta akan mengira sistemnya rusak.</a:t>
            </a:r>
          </a:p>
        </p:txBody>
      </p:sp>
      <p:sp>
        <p:nvSpPr>
          <p:cNvPr id="13" name="Oval 12"/>
          <p:cNvSpPr/>
          <p:nvPr/>
        </p:nvSpPr>
        <p:spPr>
          <a:xfrm>
            <a:off x="816559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3614165"/>
            <a:ext cx="3346704" cy="682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Tautan di dalamnya sudah menuju halaman rapot — halaman yang sama nantinya berisi hasil.</a:t>
            </a:r>
          </a:p>
        </p:txBody>
      </p:sp>
      <p:sp>
        <p:nvSpPr>
          <p:cNvPr id="15" name="Oval 14"/>
          <p:cNvSpPr/>
          <p:nvPr/>
        </p:nvSpPr>
        <p:spPr>
          <a:xfrm>
            <a:off x="8165592" y="3687318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4361116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Tampilan chat direkayasa; kalimatnya persis yang dikirim sistem.</a:t>
            </a:r>
          </a:p>
        </p:txBody>
      </p:sp>
      <p:sp>
        <p:nvSpPr>
          <p:cNvPr id="17" name="Oval 16"/>
          <p:cNvSpPr/>
          <p:nvPr/>
        </p:nvSpPr>
        <p:spPr>
          <a:xfrm>
            <a:off x="8165592" y="4434268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8860B"/>
                </a:solidFill>
                <a:latin typeface="Calibri"/>
              </a:rPr>
              <a:t>BAGIAN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Perjalanan Pengajar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5C480"/>
                </a:solidFill>
                <a:latin typeface="Calibri"/>
              </a:rPr>
              <a:t>Dengar sambil menilai, dalam satu layar — target 5 menit per rekaman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C480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5C480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DI BALIK LAYAR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Siapa yang kebagian menilai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Dipilih sistem, bukan diatur manual. Dua aturan, tanpa pengecualian.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352044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3520440" cy="82296"/>
          </a:xfrm>
          <a:prstGeom prst="rect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</a:rPr>
              <a:t>Gender ketat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80360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Rekaman ikhwan hanya ke pengajar ikhwan, akhwat hanya ke akhwat. Kalau tidak ada yang cocok, sistem TIDAK menyeberang gender — tugas jatuh ke superadmin.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65960"/>
            <a:ext cx="352044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3520440" cy="822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3317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</a:rPr>
              <a:t>Giliran merata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880360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Yang paling lama tidak kebagian dapat giliran duluan. Pengajar yang belum pernah menerima didahulukan.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65960"/>
            <a:ext cx="3520440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965960"/>
            <a:ext cx="3520440" cy="82296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Calibri"/>
              </a:rPr>
              <a:t>Tidak ada yang hilang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80360"/>
            <a:ext cx="2880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Setiap tugas tercatat di daftar, jadi rekaman tetap terjangkau walau pesan WhatsApp-nya terhapus.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20640"/>
            <a:ext cx="10835640" cy="685800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20640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555A66"/>
                </a:solidFill>
                <a:latin typeface="Calibri"/>
              </a:rPr>
              <a:t>Kalau daftar pengajar belum terisi, semua rekaman jatuh ke nomor superadmin — tidak ada rekaman yang menggantung tanpa penilai.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Pemberitahuan tugas masuk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Pengajar menerima WhatsApp berisi identitas peserta dan tautan langsung ke halaman penilaian.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0541" y="1783080"/>
            <a:ext cx="5039957" cy="42976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a-wa-pengaj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261" y="1828800"/>
            <a:ext cx="4948517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874519"/>
            <a:ext cx="2606040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874519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otomatis · rotasi gender-ketat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9514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Isi pesannya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670048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Nama peserta, gender, dan durasi rekaman — cukup untuk tahu apa yang menunggu.</a:t>
            </a:r>
          </a:p>
        </p:txBody>
      </p:sp>
      <p:sp>
        <p:nvSpPr>
          <p:cNvPr id="13" name="Oval 12"/>
          <p:cNvSpPr/>
          <p:nvPr/>
        </p:nvSpPr>
        <p:spPr>
          <a:xfrm>
            <a:off x="816559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3219831"/>
            <a:ext cx="3346704" cy="682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Tautannya membuka langsung halaman penilaian rekaman itu, bukan halaman depan portal.</a:t>
            </a:r>
          </a:p>
        </p:txBody>
      </p:sp>
      <p:sp>
        <p:nvSpPr>
          <p:cNvPr id="15" name="Oval 14"/>
          <p:cNvSpPr/>
          <p:nvPr/>
        </p:nvSpPr>
        <p:spPr>
          <a:xfrm>
            <a:off x="8165592" y="3292983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3966781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Pengajar tetap harus login lebih dulu; tautan saja tidak memberi akses.</a:t>
            </a:r>
          </a:p>
        </p:txBody>
      </p:sp>
      <p:sp>
        <p:nvSpPr>
          <p:cNvPr id="17" name="Oval 16"/>
          <p:cNvSpPr/>
          <p:nvPr/>
        </p:nvSpPr>
        <p:spPr>
          <a:xfrm>
            <a:off x="8165592" y="4039933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Masuk portal pengajar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Nomor WhatsApp dan password yang diberikan admin. Alamat portalnya sengaja tidak mudah ditebak dan diblokir dari mesin pencari.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6821423" cy="42976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7-login-pengaj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28800"/>
            <a:ext cx="6729983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874519"/>
            <a:ext cx="1828800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874519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/portal-mpt-x7/login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9514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Catatan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670048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Nomor boleh diketik 0812…, 62812…, atau +62812… — semuanya diterima.</a:t>
            </a:r>
          </a:p>
        </p:txBody>
      </p:sp>
      <p:sp>
        <p:nvSpPr>
          <p:cNvPr id="13" name="Oval 12"/>
          <p:cNvSpPr/>
          <p:nvPr/>
        </p:nvSpPr>
        <p:spPr>
          <a:xfrm>
            <a:off x="816559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3219831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Lupa password direset manual oleh admin, tidak ada email pemulihan.</a:t>
            </a:r>
          </a:p>
        </p:txBody>
      </p:sp>
      <p:sp>
        <p:nvSpPr>
          <p:cNvPr id="15" name="Oval 14"/>
          <p:cNvSpPr/>
          <p:nvPr/>
        </p:nvSpPr>
        <p:spPr>
          <a:xfrm>
            <a:off x="8165592" y="3292983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3769614"/>
            <a:ext cx="334670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Sesi berlaku 12 jam.</a:t>
            </a:r>
          </a:p>
        </p:txBody>
      </p:sp>
      <p:sp>
        <p:nvSpPr>
          <p:cNvPr id="17" name="Oval 16"/>
          <p:cNvSpPr/>
          <p:nvPr/>
        </p:nvSpPr>
        <p:spPr>
          <a:xfrm>
            <a:off x="8165592" y="3842766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Daftar tugas penilaian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Semua rekaman yang menunggu, terlama di atas — karena peserta itulah yang paling lama menanti.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6821423" cy="42976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-daftar-tug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28800"/>
            <a:ext cx="6729983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874519"/>
            <a:ext cx="1828800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874519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/portal-mpt-x7/tugas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9514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Yang ditampilkan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670048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Nama peserta, gender, durasi, dan sudah berapa lama menunggu.</a:t>
            </a:r>
          </a:p>
        </p:txBody>
      </p:sp>
      <p:sp>
        <p:nvSpPr>
          <p:cNvPr id="13" name="Oval 12"/>
          <p:cNvSpPr/>
          <p:nvPr/>
        </p:nvSpPr>
        <p:spPr>
          <a:xfrm>
            <a:off x="816559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3219831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Tugas yang terlalu lama menganggur ditandai merah.</a:t>
            </a:r>
          </a:p>
        </p:txBody>
      </p:sp>
      <p:sp>
        <p:nvSpPr>
          <p:cNvPr id="15" name="Oval 14"/>
          <p:cNvSpPr/>
          <p:nvPr/>
        </p:nvSpPr>
        <p:spPr>
          <a:xfrm>
            <a:off x="8165592" y="3292983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3769614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Bagian “Selesai” menyimpan riwayat penilaian yang sudah dikirim.</a:t>
            </a:r>
          </a:p>
        </p:txBody>
      </p:sp>
      <p:sp>
        <p:nvSpPr>
          <p:cNvPr id="17" name="Oval 16"/>
          <p:cNvSpPr/>
          <p:nvPr/>
        </p:nvSpPr>
        <p:spPr>
          <a:xfrm>
            <a:off x="8165592" y="3842766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4319397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Halaman ini yang membuat rekaman tetap terjangkau kalau pesan WhatsApp hilang.</a:t>
            </a:r>
          </a:p>
        </p:txBody>
      </p:sp>
      <p:sp>
        <p:nvSpPr>
          <p:cNvPr id="19" name="Oval 18"/>
          <p:cNvSpPr/>
          <p:nvPr/>
        </p:nvSpPr>
        <p:spPr>
          <a:xfrm>
            <a:off x="8165592" y="4392549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Halaman penilaian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Pemutar rekaman menempel di atas layar dan tidak ikut tergulir — inilah alasan formulirnya dibangun sendiri.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83080"/>
            <a:ext cx="6821423" cy="42976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-form-penila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828800"/>
            <a:ext cx="6729983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874519"/>
            <a:ext cx="2217420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874519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/portal-mpt-x7/nilai/[id]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9514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Rancangan yang menentukan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670048"/>
            <a:ext cx="3346704" cy="682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Pengajar mendengarkan sambil mencentang, tanpa berpindah tab atau menggulir balik.</a:t>
            </a:r>
          </a:p>
        </p:txBody>
      </p:sp>
      <p:sp>
        <p:nvSpPr>
          <p:cNvPr id="13" name="Oval 12"/>
          <p:cNvSpPr/>
          <p:nvPr/>
        </p:nvSpPr>
        <p:spPr>
          <a:xfrm>
            <a:off x="816559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3416998"/>
            <a:ext cx="3346704" cy="682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Al-Fatihah dibagi delapan segmen — ayat 7 dipecah dua karena panjang dan memuat dua kelompok kesalahan berbeda.</a:t>
            </a:r>
          </a:p>
        </p:txBody>
      </p:sp>
      <p:sp>
        <p:nvSpPr>
          <p:cNvPr id="15" name="Oval 14"/>
          <p:cNvSpPr/>
          <p:nvPr/>
        </p:nvSpPr>
        <p:spPr>
          <a:xfrm>
            <a:off x="8165592" y="349015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4163949"/>
            <a:ext cx="3346704" cy="682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Segmen yang belum ada temuannya tertutup, supaya layar tidak jadi dinding teks.</a:t>
            </a:r>
          </a:p>
        </p:txBody>
      </p:sp>
      <p:sp>
        <p:nvSpPr>
          <p:cNvPr id="17" name="Oval 16"/>
          <p:cNvSpPr/>
          <p:nvPr/>
        </p:nvSpPr>
        <p:spPr>
          <a:xfrm>
            <a:off x="8165592" y="4237101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Mencentang temuan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Satu segmen dibuka. Semua pilihan sudah tersedia — pengajar tinggal klik, tidak ada kolom ketik bebas.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19" y="1783080"/>
            <a:ext cx="7315200" cy="397456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_crop_10-segmen-terbuk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28800"/>
            <a:ext cx="7223760" cy="38831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874519"/>
            <a:ext cx="3566160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874519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110 pilihan · 53 fatal · 57 perlu diperhatikan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9514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Cara bacanya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670048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“Perlu Diperhatikan” diletakkan lebih dulu karena jauh lebih sering ditemui.</a:t>
            </a:r>
          </a:p>
        </p:txBody>
      </p:sp>
      <p:sp>
        <p:nvSpPr>
          <p:cNvPr id="13" name="Oval 12"/>
          <p:cNvSpPr/>
          <p:nvPr/>
        </p:nvSpPr>
        <p:spPr>
          <a:xfrm>
            <a:off x="816559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3219831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Tiap pilihan menyebut huruf dan katanya, dengan label aspek di kanan.</a:t>
            </a:r>
          </a:p>
        </p:txBody>
      </p:sp>
      <p:sp>
        <p:nvSpPr>
          <p:cNvPr id="15" name="Oval 14"/>
          <p:cNvSpPr/>
          <p:nvPr/>
        </p:nvSpPr>
        <p:spPr>
          <a:xfrm>
            <a:off x="8165592" y="3292983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3769614"/>
            <a:ext cx="334670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Skor berjalan di bawah layar dan berubah tiap centang.</a:t>
            </a:r>
          </a:p>
        </p:txBody>
      </p:sp>
      <p:sp>
        <p:nvSpPr>
          <p:cNvPr id="17" name="Oval 16"/>
          <p:cNvSpPr/>
          <p:nvPr/>
        </p:nvSpPr>
        <p:spPr>
          <a:xfrm>
            <a:off x="8165592" y="3842766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Bagaimana skornya dihitung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Rumus yang sama dengan yang selama ini dipakai pengajar secara manual — tidak dirancang ulang.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21208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SKOR TIAP SEGMEN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Lebih dari 5 kesalahan fatal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514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B8654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Ada 1 kesalahan fatal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017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B8654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2043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5 atau lebih perlu diperhatikan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52043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C47110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2335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Ada 1 perlu diperhatikan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02335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C47110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2627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Bersih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526279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22863A"/>
                </a:solidFill>
                <a:latin typeface="Calibri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5138928"/>
            <a:ext cx="4663440" cy="384048"/>
          </a:xfrm>
          <a:prstGeom prst="roundRect">
            <a:avLst>
              <a:gd name="adj" fmla="val 5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13892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2937"/>
                </a:solidFill>
                <a:latin typeface="Calibri"/>
              </a:rPr>
              <a:t>Nilai akhir = segmen TERLEMAH, lalu dikali dua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74519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Kenapa yang terlemah, bukan rata-rata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249424"/>
            <a:ext cx="4992624" cy="682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Rata-rata akan menyamarkan satu ayat yang rusak parah di antara tujuh ayat yang bagus. Padahal justru ayat itulah yang perlu diperbaiki lebih dulu.</a:t>
            </a:r>
          </a:p>
        </p:txBody>
      </p:sp>
      <p:sp>
        <p:nvSpPr>
          <p:cNvPr id="23" name="Oval 22"/>
          <p:cNvSpPr/>
          <p:nvPr/>
        </p:nvSpPr>
        <p:spPr>
          <a:xfrm>
            <a:off x="6382512" y="2322576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996374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Satu kesalahan fatal menjatuhkan segmen ke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3371278"/>
            <a:ext cx="499262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Ini disengaja: lahn jaliy mengubah makna bacaan, jadi bobotnya tidak sebanding dengan kesalahan ringan.</a:t>
            </a:r>
          </a:p>
        </p:txBody>
      </p:sp>
      <p:sp>
        <p:nvSpPr>
          <p:cNvPr id="26" name="Oval 25"/>
          <p:cNvSpPr/>
          <p:nvPr/>
        </p:nvSpPr>
        <p:spPr>
          <a:xfrm>
            <a:off x="6382512" y="344443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921061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Kenapa dikali dua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4536" y="4295965"/>
            <a:ext cx="499262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Supaya tampil pada skala 1–10 yang sudah dikenal peserta, dan tiap tingkat mendarat tepat di batas predikat.</a:t>
            </a:r>
          </a:p>
        </p:txBody>
      </p:sp>
      <p:sp>
        <p:nvSpPr>
          <p:cNvPr id="29" name="Oval 28"/>
          <p:cNvSpPr/>
          <p:nvPr/>
        </p:nvSpPr>
        <p:spPr>
          <a:xfrm>
            <a:off x="6382512" y="4369117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8860B"/>
                </a:solidFill>
                <a:latin typeface="Calibri"/>
              </a:rPr>
              <a:t>BAGIAN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Rapot Peserta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E5C480"/>
                </a:solidFill>
                <a:latin typeface="Calibri"/>
              </a:rPr>
              <a:t>Yang dilihat peserta adalah nilai pengajar — bukan nilai mesin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C480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5C480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Kabar rapot siap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Terkirim otomatis begitu pengajar menekan simpan. Hanya sekali, walau penilaian diralat.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8653" y="1783080"/>
            <a:ext cx="6303732" cy="42976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-wa-rapot-si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73" y="1828800"/>
            <a:ext cx="6212292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874519"/>
            <a:ext cx="3227832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874519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otomatis · setelah penilaian tersimpan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95144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Yang dijaga di sini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670048"/>
            <a:ext cx="3346704" cy="682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Pesan ini tidak terkirim dua kali. Pengajar boleh meralat penilaiannya, tapi peserta tidak akan dikabari ulang.</a:t>
            </a:r>
          </a:p>
        </p:txBody>
      </p:sp>
      <p:sp>
        <p:nvSpPr>
          <p:cNvPr id="13" name="Oval 12"/>
          <p:cNvSpPr/>
          <p:nvPr/>
        </p:nvSpPr>
        <p:spPr>
          <a:xfrm>
            <a:off x="816559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3416998"/>
            <a:ext cx="3346704" cy="682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Tautannya sama dengan yang dikirim di awal — peserta tidak perlu menyimpan dua alamat.</a:t>
            </a:r>
          </a:p>
        </p:txBody>
      </p:sp>
      <p:sp>
        <p:nvSpPr>
          <p:cNvPr id="15" name="Oval 14"/>
          <p:cNvSpPr/>
          <p:nvPr/>
        </p:nvSpPr>
        <p:spPr>
          <a:xfrm>
            <a:off x="8165592" y="349015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Rapot diterima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Nilai, predikat, dan penjelasan singkat. Angka ini datang dari pengajar yang mendengarkan langsung.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67891" y="1737360"/>
            <a:ext cx="2144776" cy="43891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a-rapot-sk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611" y="1783080"/>
            <a:ext cx="2053336" cy="429767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80" y="1874519"/>
            <a:ext cx="1284732" cy="256032"/>
          </a:xfrm>
          <a:prstGeom prst="roundRect">
            <a:avLst>
              <a:gd name="adj" fmla="val 3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5696" y="1874519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555A66"/>
                </a:solidFill>
                <a:latin typeface="Consolas"/>
              </a:rPr>
              <a:t>/rapot/[slug]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29514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Bagian atas rapot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670048"/>
            <a:ext cx="709574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Nilai besar dengan predikatnya, plus nama pengajar yang memeriksa.</a:t>
            </a:r>
          </a:p>
        </p:txBody>
      </p:sp>
      <p:sp>
        <p:nvSpPr>
          <p:cNvPr id="13" name="Oval 12"/>
          <p:cNvSpPr/>
          <p:nvPr/>
        </p:nvSpPr>
        <p:spPr>
          <a:xfrm>
            <a:off x="4325112" y="2743200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3022663"/>
            <a:ext cx="7095744" cy="288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Kalimat penjelas ditulis menyemangati, bukan menghakimi — apa pun nilainya.</a:t>
            </a:r>
          </a:p>
        </p:txBody>
      </p:sp>
      <p:sp>
        <p:nvSpPr>
          <p:cNvPr id="15" name="Oval 14"/>
          <p:cNvSpPr/>
          <p:nvPr/>
        </p:nvSpPr>
        <p:spPr>
          <a:xfrm>
            <a:off x="4325112" y="3095815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7136" y="3375279"/>
            <a:ext cx="709574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Peserta tidak melihat istilah lahn jaliy atau khafiy; yang tampil “Fatal” dan “Perlu Diperhatikan”.</a:t>
            </a:r>
          </a:p>
        </p:txBody>
      </p:sp>
      <p:sp>
        <p:nvSpPr>
          <p:cNvPr id="17" name="Oval 16"/>
          <p:cNvSpPr/>
          <p:nvPr/>
        </p:nvSpPr>
        <p:spPr>
          <a:xfrm>
            <a:off x="4325112" y="3448431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362456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3624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LANGKAH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Isi rapot selengkapnya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Peta bacaan per bagian, rincian tiap ayat, dan rangkuman lima aspek.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509" y="1737360"/>
            <a:ext cx="2518021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_crop_06-rapot-penu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29" y="1783080"/>
            <a:ext cx="2426581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67269" y="1737360"/>
            <a:ext cx="2518021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_crop_06-rapot-penu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2989" y="1783080"/>
            <a:ext cx="2426581" cy="4297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0" y="1874519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Peta bacaan per bagian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3056" y="2249424"/>
            <a:ext cx="544982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Grafik jaring menunjukkan delapan segmen sekaligus. Makin jauh titiknya dari pusat, makin baik bacaan di bagian itu.</a:t>
            </a:r>
          </a:p>
        </p:txBody>
      </p:sp>
      <p:sp>
        <p:nvSpPr>
          <p:cNvPr id="13" name="Oval 12"/>
          <p:cNvSpPr/>
          <p:nvPr/>
        </p:nvSpPr>
        <p:spPr>
          <a:xfrm>
            <a:off x="5971032" y="2322576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799207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Penunjuk bagian terlemah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3174111"/>
            <a:ext cx="5449824" cy="682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Rapot menyebut terus terang bagian mana yang menahan nilainya, supaya peserta tahu harus memperbaiki apa lebih dulu — bukan menebak.</a:t>
            </a:r>
          </a:p>
        </p:txBody>
      </p:sp>
      <p:sp>
        <p:nvSpPr>
          <p:cNvPr id="16" name="Oval 15"/>
          <p:cNvSpPr/>
          <p:nvPr/>
        </p:nvSpPr>
        <p:spPr>
          <a:xfrm>
            <a:off x="5971032" y="3247263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921061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Rincian tiap ayat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4295965"/>
            <a:ext cx="5449824" cy="682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Teks Arab, transliterasi, dan daftar temuan dengan label aspeknya. Ayat yang bersih ditandai jelas, tidak dibiarkan kosong tanpa keterangan.</a:t>
            </a:r>
          </a:p>
        </p:txBody>
      </p:sp>
      <p:sp>
        <p:nvSpPr>
          <p:cNvPr id="19" name="Oval 18"/>
          <p:cNvSpPr/>
          <p:nvPr/>
        </p:nvSpPr>
        <p:spPr>
          <a:xfrm>
            <a:off x="5971032" y="4369117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5042916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F2937"/>
                </a:solidFill>
                <a:latin typeface="Calibri"/>
              </a:rPr>
              <a:t>Bisa disimpan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5417820"/>
            <a:ext cx="5449824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Tombol simpan PDF mencetak rapot tanpa tombol dan ajakan program.</a:t>
            </a:r>
          </a:p>
        </p:txBody>
      </p:sp>
      <p:sp>
        <p:nvSpPr>
          <p:cNvPr id="22" name="Oval 21"/>
          <p:cNvSpPr/>
          <p:nvPr/>
        </p:nvSpPr>
        <p:spPr>
          <a:xfrm>
            <a:off x="5971032" y="5490972"/>
            <a:ext cx="82296" cy="82296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2573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RINGKASAN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Yang berjalan sendiri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Tidak ada langkah di bawah ini yang perlu dikerjakan manual.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083564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73152" cy="7498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391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Pembagian tugas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57400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Rotasi gender-ketat, yang paling lama menganggur dapat giliran duluan.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88920"/>
            <a:ext cx="1083564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788920"/>
            <a:ext cx="73152" cy="7498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0779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Dua notifikasi 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26079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Ke pengajar saat rekaman masuk, ke peserta saat rapot siap.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1083564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657600"/>
            <a:ext cx="73152" cy="7498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764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Konfirmasi ke peserta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794760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Terkirim di detik yang sama dengan rekaman diterima.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26280"/>
            <a:ext cx="1083564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526280"/>
            <a:ext cx="73152" cy="7498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451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Penghapusan audio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663440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Rekaman terhapus otomatis setelah 7 hari, dijalankan penyedia penyimpanan.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394960"/>
            <a:ext cx="1083564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5394960"/>
            <a:ext cx="73152" cy="74980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51383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Riwayat peserta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532120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55A66"/>
                </a:solidFill>
                <a:latin typeface="Calibri"/>
              </a:rPr>
              <a:t>Peserta yang dinilai lebih dari sekali otomatis melihat perbandingan nilainya di rapot — supaya kemajuannya terlihat.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CE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B8860B"/>
                </a:solidFill>
                <a:latin typeface="Calibr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Sudah jalan, dan yang belum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55A66"/>
                </a:solidFill>
                <a:latin typeface="Calibri"/>
              </a:rPr>
              <a:t>Per 4 Agustus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539496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2863A"/>
                </a:solidFill>
                <a:latin typeface="Calibri"/>
              </a:rPr>
              <a:t>SUDAH BERJALAN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651760"/>
            <a:ext cx="146304" cy="146304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606040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Rekam, simpan, dan kirim rekaman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127248"/>
            <a:ext cx="146304" cy="146304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081528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Notifikasi WhatsApp dua arah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602736"/>
            <a:ext cx="146304" cy="146304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55701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Pembagian tugas gender-ketat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078224"/>
            <a:ext cx="146304" cy="146304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032504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Formulir penilaian 8 segmen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553712"/>
            <a:ext cx="146304" cy="146304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507992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Rapot peserta + simpan PDF</a:t>
            </a:r>
          </a:p>
        </p:txBody>
      </p:sp>
      <p:sp>
        <p:nvSpPr>
          <p:cNvPr id="19" name="Oval 18"/>
          <p:cNvSpPr/>
          <p:nvPr/>
        </p:nvSpPr>
        <p:spPr>
          <a:xfrm>
            <a:off x="960120" y="5029199"/>
            <a:ext cx="146304" cy="146304"/>
          </a:xfrm>
          <a:prstGeom prst="ellipse">
            <a:avLst/>
          </a:prstGeom>
          <a:solidFill>
            <a:srgbClr val="22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983479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A66"/>
                </a:solidFill>
                <a:latin typeface="Calibri"/>
              </a:rPr>
              <a:t>Lima pengajar sudah terdaftar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874519"/>
            <a:ext cx="50749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1488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47110"/>
                </a:solidFill>
                <a:latin typeface="Calibri"/>
              </a:rPr>
              <a:t>BELUM SELESAI</a:t>
            </a:r>
          </a:p>
        </p:txBody>
      </p:sp>
      <p:sp>
        <p:nvSpPr>
          <p:cNvPr id="23" name="Oval 22"/>
          <p:cNvSpPr/>
          <p:nvPr/>
        </p:nvSpPr>
        <p:spPr>
          <a:xfrm>
            <a:off x="6720840" y="2651760"/>
            <a:ext cx="146304" cy="146304"/>
          </a:xfrm>
          <a:prstGeom prst="ellipse">
            <a:avLst/>
          </a:prstGeom>
          <a:solidFill>
            <a:srgbClr val="C47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260604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5A66"/>
                </a:solidFill>
                <a:latin typeface="Calibri"/>
              </a:rPr>
              <a:t>Teks halaman depan masih menjanjikan rapot AI 30 detik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3383280"/>
            <a:ext cx="146304" cy="146304"/>
          </a:xfrm>
          <a:prstGeom prst="ellipse">
            <a:avLst/>
          </a:prstGeom>
          <a:solidFill>
            <a:srgbClr val="C47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33756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5A66"/>
                </a:solidFill>
                <a:latin typeface="Calibri"/>
              </a:rPr>
              <a:t>Halaman “Hasil Assessment” di dashboard peserta belum tersambung ke nilai pengajar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4114800"/>
            <a:ext cx="146304" cy="146304"/>
          </a:xfrm>
          <a:prstGeom prst="ellipse">
            <a:avLst/>
          </a:prstGeom>
          <a:solidFill>
            <a:srgbClr val="C471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40690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55A66"/>
                </a:solidFill>
                <a:latin typeface="Calibri"/>
              </a:rPr>
              <a:t>Penilaian AI pembanding belum berjalan otomatis di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59CA8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59CA8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E5C480"/>
                </a:solidFill>
                <a:latin typeface="Traditional Arabic"/>
              </a:rPr>
              <a:t>Alhamdulillah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Rekaman peserta kini sampai ke pengajar,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Calibri"/>
              </a:rPr>
              <a:t>dan hasilnya kembali ke peserta — tanpa satu pun langkah manual di antaranya.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4526280"/>
            <a:ext cx="1371600" cy="27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C480"/>
                </a:solidFill>
                <a:latin typeface="Consolas"/>
              </a:rPr>
              <a:t>mpt-web-280965384396.asia-southeast2.run.app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5C480"/>
                </a:solidFill>
                <a:latin typeface="Calibri"/>
              </a:rPr>
              <a:t>Muhajir Project Tilawah · Walkthrough Assessment Al-Fatihah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35508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E5C480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