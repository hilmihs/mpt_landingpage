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3008376" cy="256032"/>
          </a:xfrm>
          <a:prstGeom prst="roundRect">
            <a:avLst>
              <a:gd name="adj" fmla="val 50000"/>
            </a:avLst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DRAFT UNTUK PRESENTASI 2 JUNI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5EFE3"/>
                </a:solidFill>
                <a:latin typeface="Calibri"/>
              </a:rPr>
              <a:t>Muhajir Project Tilawah</a:t>
            </a:r>
          </a:p>
          <a:p>
            <a:pPr algn="l"/>
            <a:r>
              <a:rPr sz="5400" b="1">
                <a:solidFill>
                  <a:srgbClr val="F5EFE3"/>
                </a:solidFill>
                <a:latin typeface="Calibri"/>
              </a:rPr>
              <a:t>Arsitektur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99A4B"/>
                </a:solidFill>
                <a:latin typeface="Calibri"/>
              </a:rPr>
              <a:t>Revisi Funnel Bertahap — dari Assessment hingga HITS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EFE3"/>
                </a:solidFill>
                <a:latin typeface="Calibri"/>
              </a:rPr>
              <a:t>Step-by-step funnel: Rapot → Gate Keseriusan → Booking dengan Pengajar → Tahsin Al-Fatihah → HITS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60720"/>
            <a:ext cx="10515600" cy="127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3"/>
                </a:solidFill>
                <a:latin typeface="Calibri"/>
              </a:rPr>
              <a:t>Disusun oleh Hilmi · Sumber: Notulen Rapat HITS Juni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3"/>
                </a:solidFill>
                <a:latin typeface="Calibri"/>
              </a:rPr>
              <a:t>Untuk: Ustadz Ilham, Mas Agil, Ustadz Syukri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9436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EFE3"/>
                </a:solidFill>
                <a:latin typeface="Calibri"/>
              </a:rPr>
              <a:t>Mei 2026</a:t>
            </a:r>
          </a:p>
          <a:p>
            <a:pPr algn="r"/>
            <a:r>
              <a:rPr sz="1100" b="0">
                <a:solidFill>
                  <a:srgbClr val="F5EFE3"/>
                </a:solidFill>
                <a:latin typeface="Calibri"/>
              </a:rPr>
              <a:t>Versi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1 · KONTEKS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Kenapa Revisi Flow Sekarang?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Insight dari rapat: funnel langsung ke HITS tidak optimal untuk skala 1.000+ peserta.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V1 — FUNNEL SAAT 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243F"/>
                </a:solidFill>
                <a:latin typeface="Calibri"/>
              </a:rPr>
              <a:t>Direct Linktree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11243F"/>
                </a:solidFill>
                <a:latin typeface="Calibri"/>
              </a:rPr>
              <a:t>Assessment → Rapot → Linktree HITS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•  Tidak ada filter keseriusan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•  Semua dilempar ke pendaftaran HITS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•  Konversi rendah, sulit ditelusuri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•  Tidak ada relasi personal dengan pengajar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411480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V2 — USULAN BARU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1243F"/>
                </a:solidFill>
                <a:latin typeface="Calibri"/>
              </a:rPr>
              <a:t>Step-by-step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1752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>
                <a:solidFill>
                  <a:srgbClr val="11243F"/>
                </a:solidFill>
                <a:latin typeface="Calibri"/>
              </a:rPr>
              <a:t>Rapot → Gate → Pengajar → Tahsin → HITS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•  3 gate keseriusan menyaring intent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•  Booking 1-on-many dengan pengajar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•  Tahsin Al-Fatihah jadi commitment kecil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•  HITS hanya menerima qualified lead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126480"/>
            <a:ext cx="11155680" cy="45720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5EFE3"/>
                </a:solidFill>
                <a:latin typeface="Calibri"/>
              </a:rPr>
              <a:t>Insight rapat: dari ±1.000 yang mencoba assessment, mungkin hanya 100 yang serius. Pendekatan bertahap lebih efektif.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687068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2 ·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User Journey V2 —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10 step dari landing page sampai pendaftaran HITS, dengan 3 gate keseriusan di tengahnya.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243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Hero + edukasi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8296" y="196596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05456" y="210312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21305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26243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Consent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2926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Privacy notice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196596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70832" y="210312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21305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6243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2926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Al-Fatihah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196596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36208" y="210312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21305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6243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926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Nama, WA, gender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64424" y="196596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01584" y="210312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4" y="21305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26243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2926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Mu'alim v3.2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196596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66960" y="210312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1305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6243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Rapot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9260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+ AI Narrative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114800"/>
            <a:ext cx="1691640" cy="141732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2793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Gate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Tertarik lebih dalam?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68296" y="411480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505456" y="425196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05456" y="42793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05456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Booking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05456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Calendly-style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33672" y="411480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70832" y="425196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0832" y="42793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2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Meeting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832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60min · 12 peserta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99048" y="4114800"/>
            <a:ext cx="1691640" cy="141732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236208" y="425196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8" y="42793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Gate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Mau Tahsin?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64424" y="4114800"/>
            <a:ext cx="16916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01584" y="4251960"/>
            <a:ext cx="411480" cy="411480"/>
          </a:xfrm>
          <a:prstGeom prst="ellipse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01584" y="42793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1584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Tahsin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01584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4 sesi · 2 minggu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29800" y="4114800"/>
            <a:ext cx="1691640" cy="141732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66960" y="425196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0" y="42793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5EFE3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0" y="47731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Gate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60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Lulus → HITS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3474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99A4B"/>
                </a:solidFill>
                <a:latin typeface="Calibri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3474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800" b="1">
                <a:solidFill>
                  <a:srgbClr val="C99A4B"/>
                </a:solidFill>
                <a:latin typeface="Calibri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" y="5852160"/>
            <a:ext cx="11155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2960" y="6053328"/>
            <a:ext cx="27432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88720" y="60533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Step normal flow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06240" y="6053328"/>
            <a:ext cx="274320" cy="27432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0" y="6053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Gate keseriusan (filter intent)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3 · KONSTRAIN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Aturan Bisnis (Locked)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Parameter teknis yang harus dipertahankan di seluruh implementasi V2.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2386584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99A4B"/>
                </a:solidFill>
                <a:latin typeface="Calibri"/>
              </a:rPr>
              <a:t>ASSESSMENT DENGAN PENGAJAR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Durasi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60 menit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55848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Kapasitas per slot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667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12 peserta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239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7997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1-on-many via Zoom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82312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Gender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Strict (ikhwan-ikhwan, akhwat-akhwat)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495544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50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Booking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User pilih slot, sistem auto-assign pengajar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20240"/>
            <a:ext cx="54864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2148840"/>
            <a:ext cx="1687068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99A4B"/>
                </a:solidFill>
                <a:latin typeface="Calibri"/>
              </a:rPr>
              <a:t>TAHSIN AL-FATIHAH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697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Durasi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9535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90 menit per sesi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355848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410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Total sesi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6667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4 sesi (2x/minggu × 2 minggu)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069080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239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Kapasitas per cohort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7997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12 peserta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4782312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8371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Format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0932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Cohort-based (Senin &amp; Kamis pattern)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5495544"/>
            <a:ext cx="4846320" cy="9525"/>
          </a:xfrm>
          <a:prstGeom prst="rect">
            <a:avLst/>
          </a:prstGeom>
          <a:solidFill>
            <a:srgbClr val="E5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550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Kelulusan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806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≥ 3 dari 4 sesi attended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Calibri"/>
              </a:rPr>
              <a:t>Setelah lulus Tahsin → ditawarkan HITS Linktree (qualified lead). Tidak ada shortcut langsung dari rapot ke HITS.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687068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4 ·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Arsitektur Komponen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5 layer terpisah, 3 vendor (Supabase + Vercel + Zoom), self-host AI hanya untuk inference Mu'alim.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2926080"/>
            <a:ext cx="3657600" cy="164592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063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383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5EFE3"/>
                </a:solidFill>
                <a:latin typeface="Calibri"/>
              </a:rPr>
              <a:t>Next.js App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5EFE3"/>
                </a:solidFill>
                <a:latin typeface="Calibri"/>
              </a:rPr>
              <a:t>+ API Routes  +  Webhook Receivers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99A4B"/>
                </a:solidFill>
                <a:latin typeface="Calibri"/>
              </a:rPr>
              <a:t>BullMQ Queue Coordinator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2286000" cy="77724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243F"/>
                </a:solidFill>
                <a:latin typeface="Calibri"/>
              </a:rPr>
              <a:t>Peserta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/ assessment / rapot / booking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920240"/>
            <a:ext cx="2286000" cy="77724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243F"/>
                </a:solidFill>
                <a:latin typeface="Calibri"/>
              </a:rPr>
              <a:t>Pengajar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/portal-mpt-x7  (hidden)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920240"/>
            <a:ext cx="2286000" cy="77724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1243F"/>
                </a:solidFill>
                <a:latin typeface="Calibri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Calibri"/>
              </a:rPr>
              <a:t>/admin (magic link)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57400" y="2697480"/>
            <a:ext cx="2971800" cy="411480"/>
          </a:xfrm>
          <a:prstGeom prst="line">
            <a:avLst/>
          </a:prstGeom>
          <a:ln w="15875">
            <a:solidFill>
              <a:srgbClr val="C99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126480" y="2697480"/>
            <a:ext cx="45720" cy="228600"/>
          </a:xfrm>
          <a:prstGeom prst="line">
            <a:avLst/>
          </a:prstGeom>
          <a:ln w="15875">
            <a:solidFill>
              <a:srgbClr val="C99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315200" y="2697480"/>
            <a:ext cx="2971800" cy="411480"/>
          </a:xfrm>
          <a:prstGeom prst="line">
            <a:avLst/>
          </a:prstGeom>
          <a:ln w="15875">
            <a:solidFill>
              <a:srgbClr val="C99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5120640"/>
            <a:ext cx="21031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2103120" cy="508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6235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Postgres + Storage + Auth (admin &amp; pengajar) + RLS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5120640"/>
            <a:ext cx="21031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88920" y="5120640"/>
            <a:ext cx="2103120" cy="508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Upstash 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6235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BullMQ queue · Rate limit · Session cache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5120640"/>
            <a:ext cx="21031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24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0" y="5120640"/>
            <a:ext cx="2103120" cy="508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Zoom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56235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1-2 Pro account, webhook participant events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5120640"/>
            <a:ext cx="21031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24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52360" y="5120640"/>
            <a:ext cx="2103120" cy="508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AI Provider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6235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DeepSeek / Claude — narrative + fuzzy match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5120640"/>
            <a:ext cx="210312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84080" y="5120640"/>
            <a:ext cx="2103120" cy="50800"/>
          </a:xfrm>
          <a:prstGeom prst="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alibri"/>
              </a:rPr>
              <a:t>GPU 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56235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Biznet Gio T4 · Mu'alim v3.2 inference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6480" y="4572000"/>
            <a:ext cx="0" cy="548640"/>
          </a:xfrm>
          <a:prstGeom prst="line">
            <a:avLst/>
          </a:prstGeom>
          <a:ln w="15875">
            <a:solidFill>
              <a:srgbClr val="C99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5 ·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Schema V2 — 11 Tabel 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Migration 0002_booking_v2.sql · RLS policies untuk 3 role · Triggers auto-sync counter.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09728" cy="59436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teachers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Pengajar (auth + profile + gender)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33472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33472"/>
            <a:ext cx="109728" cy="59436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06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teacher_availability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626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Window mingguan rutin per pengajar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46704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46704"/>
            <a:ext cx="109728" cy="59436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198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slots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758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Instance konkret tanggal+jam + Zoom 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59936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59936"/>
            <a:ext cx="109728" cy="59436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33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bookings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Booking peserta ke slot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73168"/>
            <a:ext cx="109728" cy="59436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cohorts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023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Cohort Tahsin (unit 4 sesi)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86400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109728" cy="59436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595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cohort_sessions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155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4 sesi per cohort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920240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920240"/>
            <a:ext cx="109728" cy="59436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cohort_enrollments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2494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Peserta yang join cohort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633472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109728" cy="594360"/>
          </a:xfrm>
          <a:prstGeom prst="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706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attendance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96265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Kehadiran (zoom / ai_match / manual)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346704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346704"/>
            <a:ext cx="109728" cy="59436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4198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interest_responses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6758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Jawaban Gate 1/2/3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4059936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059936"/>
            <a:ext cx="109728" cy="59436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133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analytics_events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389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Funnel events untuk dashboard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773168"/>
            <a:ext cx="5440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4773168"/>
            <a:ext cx="109728" cy="59436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846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243F"/>
                </a:solidFill>
                <a:latin typeface="Consolas"/>
              </a:rPr>
              <a:t>admins / audit_logs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1023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Admin user + audit trail aksi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Konvensi warna: Navy = master data · Gold = transaksi booking · Merah = attendance/audit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531620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6 ·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3 Role, 3 URL, 3 Metode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Pengajar &amp; admin di route obscure (hidden) supaya tidak mengganggu UX peserta.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155680" cy="41148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08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208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2082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HALAMAN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208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AUTH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020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VISIBILITAS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11155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1051560" cy="4114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PESERTA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743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onsolas"/>
              </a:rPr>
              <a:t>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633472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/assessment/* · /rapot/* · /booking/*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33472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Anonymous + slug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33472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Public, indexable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11155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051560" cy="411480"/>
          </a:xfrm>
          <a:prstGeom prst="round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PENGAJAR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069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onsolas"/>
              </a:rPr>
              <a:t>/portal-mpt-x7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959352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Dashboard · Availability · Bookings ·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59352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Supabase Auth: phone (WA) + 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959352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Hidden — robots.txt block · noindex · tidak ada link publik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11155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349240"/>
            <a:ext cx="1051560" cy="411480"/>
          </a:xfrm>
          <a:prstGeom prst="round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394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onsolas"/>
              </a:rPr>
              <a:t>/admin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285232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Overview · Pengajar · Jadwal · Cohort ·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85232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Supabase Auth: email magic 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285232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Hidden — robots.txt block · noindex · IP allowlist optional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08860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7 · TEACHER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Halaman Khusus Pengajar di /portal-mpt-x7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Tidak ada link dari halaman peserta, robots.txt block, noindex meta tag.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40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57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43F"/>
                </a:solidFill>
                <a:latin typeface="Calibri"/>
              </a:rP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WA + password (Supabase Auth phone provider)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440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10312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057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43F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Jadwal hari ini · Booking masuk · KPI personal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43200"/>
            <a:ext cx="5440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803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43F"/>
                </a:solidFill>
                <a:latin typeface="Calibri"/>
              </a:rPr>
              <a:t>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108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Set window mingguan (e.g., Selasa 19:30-21:30)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43200"/>
            <a:ext cx="5440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288036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8803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43F"/>
                </a:solidFill>
                <a:latin typeface="Calibri"/>
              </a:rPr>
              <a:t>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108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List booking Assessment di slot saya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520440"/>
            <a:ext cx="5440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65760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611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43F"/>
                </a:solidFill>
                <a:latin typeface="Calibri"/>
              </a:rPr>
              <a:t>Cohorts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Manage cohort Tahsin saya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520440"/>
            <a:ext cx="5440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365760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611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43F"/>
                </a:solidFill>
                <a:latin typeface="Calibri"/>
              </a:rPr>
              <a:t>Attendance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Mark/edit attendance (override Zoom webhook)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297680"/>
            <a:ext cx="54406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1520" y="4434840"/>
            <a:ext cx="411480" cy="41148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348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243F"/>
                </a:solidFill>
                <a:latin typeface="Calibri"/>
              </a:rPr>
              <a:t>Profil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63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Edit nama, bio, foto, email Zoom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349240"/>
            <a:ext cx="11155680" cy="118872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5138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BEST PRACTICES DITERAPKAN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3"/>
                </a:solidFill>
                <a:latin typeface="Calibri"/>
              </a:rPr>
              <a:t>•  Rate limit login 5 attempts / 15 menit per IP (Upstash)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8064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3"/>
                </a:solidFill>
                <a:latin typeface="Calibri"/>
              </a:rPr>
              <a:t>•  Audit log untuk semua perubahan availability &amp; attendance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099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3"/>
                </a:solidFill>
                <a:latin typeface="Calibri"/>
              </a:rPr>
              <a:t>•  Reset password lewat admin (cegah social engineering ke WA)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60990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3"/>
                </a:solidFill>
                <a:latin typeface="Calibri"/>
              </a:rPr>
              <a:t>•  Session timeout 7 hari default Supabase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86584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8 ·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7 KPI Cards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Hitung otomatis dari DB view v_funnel_metrics — refresh real-time.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69748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Page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1,247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Vercel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659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965960"/>
            <a:ext cx="269748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148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Assessment Selesai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4688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892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submissions 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9659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965960"/>
            <a:ext cx="2697480" cy="508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2148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Gate 1 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4688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287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33% dari completed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19659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1965960"/>
            <a:ext cx="2697480" cy="508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599" y="2148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Booking Pengajar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4688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interest_responses → bookings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947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794760"/>
            <a:ext cx="2697480" cy="508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Hadir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97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189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via Zoom webhook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37947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794760"/>
            <a:ext cx="2697480" cy="50800"/>
          </a:xfrm>
          <a:prstGeom prst="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3977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Daftar Tahsin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297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112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cohort_enrollments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37947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59" y="3794760"/>
            <a:ext cx="2697480" cy="50800"/>
          </a:xfrm>
          <a:prstGeom prst="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39" y="3977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Lulus Tahsin (≥3/4)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39" y="4297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39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qualified untuk HITS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19" y="3794760"/>
            <a:ext cx="269748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9719" y="3794760"/>
            <a:ext cx="2697480" cy="50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599" y="3977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HITS Click-through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599" y="42976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F"/>
                </a:solidFill>
                <a:latin typeface="Calibri"/>
              </a:rPr>
              <a:t>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599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klik linktree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852160"/>
            <a:ext cx="11155680" cy="73152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INSIGHT YANG MUNCUL OTOMATIS DARI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217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3"/>
                </a:solidFill>
                <a:latin typeface="Calibri"/>
              </a:rPr>
              <a:t>Conversion rate per gate · Drop-off paling besar di mana · Pengajar dengan attendance rate tertinggi · Rata-rata jarak antar gate (hari)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997964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9 ·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Otomatisasi Kehadiran via Zoom Webhook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Tidak butuh AI khusus — Zoom kirim event saat peserta join, sistem match by email.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194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24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920240"/>
            <a:ext cx="640080" cy="640080"/>
          </a:xfrm>
          <a:prstGeom prst="ellipse">
            <a:avLst/>
          </a:prstGeom>
          <a:solidFill>
            <a:srgbClr val="11243F"/>
          </a:solidFill>
          <a:ln w="25400">
            <a:solidFill>
              <a:srgbClr val="F5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1243F"/>
                </a:solidFill>
                <a:latin typeface="Calibri"/>
              </a:rPr>
              <a:t>Pengajar mulai
meeting Zoom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03120"/>
            <a:ext cx="2194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1920240"/>
            <a:ext cx="640080" cy="640080"/>
          </a:xfrm>
          <a:prstGeom prst="ellipse">
            <a:avLst/>
          </a:prstGeom>
          <a:solidFill>
            <a:srgbClr val="C99A4B"/>
          </a:solidFill>
          <a:ln w="25400">
            <a:solidFill>
              <a:srgbClr val="F5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69748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1243F"/>
                </a:solidFill>
                <a:latin typeface="Calibri"/>
              </a:rPr>
              <a:t>Zoom kirim event
participant_joined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103120"/>
            <a:ext cx="2194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89320" y="1920240"/>
            <a:ext cx="640080" cy="640080"/>
          </a:xfrm>
          <a:prstGeom prst="ellipse">
            <a:avLst/>
          </a:prstGeom>
          <a:solidFill>
            <a:srgbClr val="C99A4B"/>
          </a:solidFill>
          <a:ln w="25400">
            <a:solidFill>
              <a:srgbClr val="F5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9748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1243F"/>
                </a:solidFill>
                <a:latin typeface="Calibri"/>
              </a:rPr>
              <a:t>API kita verify
HMAC signature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103120"/>
            <a:ext cx="2194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1920240"/>
            <a:ext cx="640080" cy="640080"/>
          </a:xfrm>
          <a:prstGeom prst="ellipse">
            <a:avLst/>
          </a:prstGeom>
          <a:solidFill>
            <a:srgbClr val="C99A4B"/>
          </a:solidFill>
          <a:ln w="25400">
            <a:solidFill>
              <a:srgbClr val="F5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269748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1243F"/>
                </a:solidFill>
                <a:latin typeface="Calibri"/>
              </a:rPr>
              <a:t>Match email →
bookings.submission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2103120"/>
            <a:ext cx="21945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44200" y="1920240"/>
            <a:ext cx="640080" cy="640080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5E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19202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69748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1243F"/>
                </a:solidFill>
                <a:latin typeface="Calibri"/>
              </a:rPr>
              <a:t>INSERT attendance
(source=zoom_webhook)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11338560" cy="1463040"/>
          </a:xfrm>
          <a:prstGeom prst="roundRect">
            <a:avLst/>
          </a:prstGeom>
          <a:solidFill>
            <a:srgbClr val="FAECD0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FALLBACK — kalau email peserta tidak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AI fuzzy match by display name (Ahmad Budi ≈ Ahmad Budiman) — confidence ≥ 0.8 auto-record, flag need_review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Worst-case: pengajar override manual di portal /portal-mpt-x7/attendance (1-click "Tandai Hadir")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669280"/>
            <a:ext cx="11338560" cy="91440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8064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BIAYA OPERASIONAL ATTENDANCE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3"/>
                </a:solidFill>
                <a:latin typeface="Calibri"/>
              </a:rPr>
              <a:t>Zoom Pro 1 host: Rp 240k/bulan  ·  2 host (parallel session): Rp 480k/bulan  ·  AI fuzzy fallback: Rp 50/event (≈Rp 5k/bulan)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453896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10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2 Fitur AI di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Scope sengaja kecil. Phase 2-3 (chatbot, auto-summary, RAG) menyusul setelah data baseline 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864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1531620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99A4B"/>
                </a:solidFill>
                <a:latin typeface="Calibri"/>
              </a:rPr>
              <a:t>PHASE 1 · WAJIB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243F"/>
                </a:solidFill>
                <a:latin typeface="Calibri"/>
              </a:rPr>
              <a:t>Penjelasan Rapot Personalized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Trigger: setelah worker generate rapot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4937760" cy="155448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Masya Allah, bacaan Anda sangat baik (skor 4/5). Catatan: harakat di ayat 3 kata "الْعَالَمِينَ". Latihan: ulangi murottal Syaikh Mishary 10x/hari fokus vokalisasi panjang "ii"...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Cost: ±Rp 150 / rapot  ·  Asumsi 1.000/bulan = Rp 150k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Effort: 1 hari · simpan ke rapot.ai_narrative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011680"/>
            <a:ext cx="54864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9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2240280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99A4B"/>
                </a:solidFill>
                <a:latin typeface="Calibri"/>
              </a:rPr>
              <a:t>PHASE 1 ·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243F"/>
                </a:solidFill>
                <a:latin typeface="Calibri"/>
              </a:rPr>
              <a:t>AI Fuzzy Match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Trigger: Zoom email tidak match booking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520440"/>
            <a:ext cx="4937760" cy="155448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65760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Display name "Ahmad Budi" → cocok dengan booking "Ahmad Budiman" (confidence 0.87) → auto-record dengan flag need_review untuk pengajar konfirmasi.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12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Cost: ±Rp 50 / anomali  ·  Asumsi 5% events ≈ negligible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Effort: 0.5 hari · provider: DeepSeek V4 atau Claude Haiku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11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Phasing Plan Implementasi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Total estimasi 2-3 minggu kerja. Phase 1A sudah selesai (deck + migration di repo).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075688"/>
            <a:ext cx="1371600" cy="3657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75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1A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305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Calibri"/>
              </a:rPr>
              <a:t>✅ Selesai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3055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Deck arsitektur + Migration 0002 + update CLAUDE.md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761488"/>
            <a:ext cx="1371600" cy="365760"/>
          </a:xfrm>
          <a:prstGeom prst="round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8163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Berikutnya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1635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InterestGate component + Booking UI peserta + AI Penjelasan Rapot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447288"/>
            <a:ext cx="1371600" cy="36576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472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5021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Minggu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50215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Teacher portal lengkap (auth WA, availability, bookings, attendance)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2336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133088"/>
            <a:ext cx="1371600" cy="36576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330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1879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Minggu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18795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Admin dashboard lengkap (7 KPI cards + funnel chart + CRUD pengajar)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818888"/>
            <a:ext cx="1371600" cy="36576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188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8737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Minggu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87375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Zoom Webhook integration end-to-end + auto-create Zoom meeting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6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" y="5504688"/>
            <a:ext cx="1371600" cy="36576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04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55955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Minggu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55955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243F"/>
                </a:solidFill>
                <a:latin typeface="Calibri"/>
              </a:rPr>
              <a:t>Tahsin cohort flow + Gate 2 &amp; 3 + HITS linktree gating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Estimasi total: 2-3 minggu kerja dari Phase 1B  ·  Dapat dijalankan paralel dengan project HITS Juni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12 ·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Biaya Operasional Bulanan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Estimasi untuk skala 1.000 assessment/bulan + 50 booking/bulan + 12 cohort/bulan.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155680" cy="36576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FUNGSI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ESTIMASI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CATATAN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111556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GPU Server (Biznet Gio T4 16GB)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Mu'alim v3.2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4688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Rp 3.000.000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4688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Sudah dicover Mas Agil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34640"/>
            <a:ext cx="11155680" cy="41148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Vercel Pro (frontend + 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Hosting Next.js +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926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Rp 320.000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926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$20/bulan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91840"/>
            <a:ext cx="111556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Supabase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Postgres + Storage +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383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Rp 400.000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383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$25/bulan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49040"/>
            <a:ext cx="11155680" cy="41148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40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Upstash 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404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BullMQ + rate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840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Rp 160.000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840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$10/bulan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06240"/>
            <a:ext cx="111556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Zoom Pro (1-2 host)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297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Webhook + meeting &gt; 40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2976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Rp 240-480k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2976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$15-30/bulan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663440"/>
            <a:ext cx="11155680" cy="41148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AI Provider (DeepSeek/Claude)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54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Narrative + fuzzy 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7548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Rp 200.000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47548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1k events/bulan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20640"/>
            <a:ext cx="1115568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Vercel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212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Page view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5212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Gratis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212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2.5k events free tier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577840"/>
            <a:ext cx="11155680" cy="41148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WhatsApp Business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669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Konfirmasi + reminder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669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9A4B"/>
                </a:solidFill>
                <a:latin typeface="Calibri"/>
              </a:rPr>
              <a:t>TBD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5669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Diskusi dengan Mas Rey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6172200"/>
            <a:ext cx="11155680" cy="50292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EFE3"/>
                </a:solidFill>
                <a:latin typeface="Calibri"/>
              </a:rPr>
              <a:t>TOTAL ESTIMASI BULANAN (tanpa GPU &amp; WA API)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99A4B"/>
                </a:solidFill>
                <a:latin typeface="Calibri"/>
              </a:rPr>
              <a:t>Rp 1,3 – 1,5 juta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13 ·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5 Pertanyaan untuk Ustadz Ilham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Decision yang harus diambil sebelum eksekusi Phase 1B.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15568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756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Persetujuan flow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Apakah Ustadz menyetujui pendekatan step-by-step funnel dengan 3 gate keseriusan? Atau tetap ke Linktree langsung?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16352"/>
            <a:ext cx="1115568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999232"/>
            <a:ext cx="457200" cy="4572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26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Skema tali kasih pengajar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27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Untuk pengajar Assessment &amp; Tahsin Al-Fatihah — disetujui ilustrasi: Rp 5.000/assessment, dan Rp 1.000/menit untuk Tahsin? (sesuai notulen Bagian 2.3)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66744"/>
            <a:ext cx="1115568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849624"/>
            <a:ext cx="457200" cy="4572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496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764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Utilisasi 13 pengajar tanpa halaqah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782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Apakah 13 pengajar tersebut diprioritaskan jadi pool pengajar Assessment &amp; Tahsin di V2 ini? Solusi untuk masalah utilisasi &amp; kompensasi mereka.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17136"/>
            <a:ext cx="1115568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700016"/>
            <a:ext cx="457200" cy="4572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000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2686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Budget operasional bulanan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92861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Approval Rp 1,3-1,5 juta/bulan untuk hosting + AI + Zoom. Plus Zoom Pro account atas nama lembaga.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67528"/>
            <a:ext cx="1115568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550408"/>
            <a:ext cx="457200" cy="4572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504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772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243F"/>
                </a:solidFill>
                <a:latin typeface="Calibri"/>
              </a:rPr>
              <a:t>WhatsApp Business API integrator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7790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Siapa yang setup? Pakai akun kantor Mas Agil atau buat baru? Untuk WA reminder, broadcast link Zoom, konfirmasi booking.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764792" cy="256032"/>
          </a:xfrm>
          <a:prstGeom prst="roundRect">
            <a:avLst>
              <a:gd name="adj" fmla="val 50000"/>
            </a:avLst>
          </a:prstGeom>
          <a:solidFill>
            <a:srgbClr val="FAE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99A4B"/>
                </a:solidFill>
                <a:latin typeface="Calibri"/>
              </a:rPr>
              <a:t>BAGIAN 14 ·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1243F"/>
                </a:solidFill>
                <a:latin typeface="Calibri"/>
              </a:rPr>
              <a:t>Risiko Implementasi &amp; Mitigasi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6 risiko teridentifikasi dengan rencana mitigasi konkret.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48640" cy="254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155680" cy="365760"/>
          </a:xfrm>
          <a:prstGeom prst="round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RISIKO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PROBABILITAS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99A4B"/>
                </a:solidFill>
                <a:latin typeface="Calibri"/>
              </a:rPr>
              <a:t>MITIGASI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Pengajar tidak isi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514600"/>
            <a:ext cx="1188720" cy="320040"/>
          </a:xfrm>
          <a:prstGeom prst="round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5146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5420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Onboarding di portal + reminder WA + 13 pengajar tanpa halaqah sebagai pool pertama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11155680" cy="59436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Zoom webhook gagal di 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154680"/>
            <a:ext cx="1188720" cy="320040"/>
          </a:xfrm>
          <a:prstGeom prst="round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1546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SEDANG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821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Fallback AI fuzzy match + manual override oleh pengajar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599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AI narrative kualitasnya kurang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3794759"/>
            <a:ext cx="1188720" cy="320040"/>
          </a:xfrm>
          <a:prstGeom prst="round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379475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SEDANG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822191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Prompt review oleh Ustadzah + validation harness sebelum deploy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11155680" cy="59436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Booking peak time slot penuh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4434840"/>
            <a:ext cx="1188720" cy="320040"/>
          </a:xfrm>
          <a:prstGeom prst="round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4348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4622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Capacity limit 12 + waitlist queue + suggestion slot terdekat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111556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Peserta no-show meeting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5074920"/>
            <a:ext cx="1188720" cy="320040"/>
          </a:xfrm>
          <a:prstGeom prst="roundRect">
            <a:avLst/>
          </a:prstGeom>
          <a:solidFill>
            <a:srgbClr val="D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0749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TINGGI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1023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Reminder H-1, H-2 jam via WA bot + email + SMS sebelum meeting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77840"/>
            <a:ext cx="11155680" cy="594360"/>
          </a:xfrm>
          <a:prstGeom prst="roundRect">
            <a:avLst/>
          </a:prstGeom>
          <a:solidFill>
            <a:srgbClr val="F5EFE3"/>
          </a:solidFill>
          <a:ln w="9525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F"/>
                </a:solidFill>
                <a:latin typeface="Calibri"/>
              </a:rPr>
              <a:t>Privacy concern WA broadcast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5715000"/>
            <a:ext cx="1188720" cy="320040"/>
          </a:xfrm>
          <a:prstGeom prst="round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57150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SEDANG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7424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Opt-in eksplisit di consent + opsi unsubscribe + UU PDP compliant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909828" cy="256032"/>
          </a:xfrm>
          <a:prstGeom prst="roundRect">
            <a:avLst>
              <a:gd name="adj" fmla="val 50000"/>
            </a:avLst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1243F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5EFE3"/>
                </a:solidFill>
                <a:latin typeface="Calibri"/>
              </a:rPr>
              <a:t>Bismillah, semoga</a:t>
            </a:r>
          </a:p>
          <a:p>
            <a:pPr algn="l"/>
            <a:r>
              <a:rPr sz="4400" b="1">
                <a:solidFill>
                  <a:srgbClr val="F5EFE3"/>
                </a:solidFill>
                <a:latin typeface="Calibri"/>
              </a:rPr>
              <a:t>berkah dan diijabah.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9A4B"/>
                </a:solidFill>
                <a:latin typeface="Calibri"/>
              </a:rPr>
              <a:t>Langkah selanjutnya setelah approval Ustadz Ilham: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3"/>
                </a:solidFill>
                <a:latin typeface="Calibri"/>
              </a:rPr>
              <a:t>1.  Eksekusi Phase 1B — Funnel revision + Booking UI + AI Narrative (3-4 hari)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3"/>
                </a:solidFill>
                <a:latin typeface="Calibri"/>
              </a:rPr>
              <a:t>2.  Apply migration 0002_booking_v2.sql ke Supabase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0857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3"/>
                </a:solidFill>
                <a:latin typeface="Calibri"/>
              </a:rPr>
              <a:t>3.  Setup Zoom Pro account + Zoom Marketplace App untuk webhook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9262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3"/>
                </a:solidFill>
                <a:latin typeface="Calibri"/>
              </a:rPr>
              <a:t>4.  Onboarding 13 pengajar tanpa halaqah ke pool Assessment &amp; Tahsin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766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3"/>
                </a:solidFill>
                <a:latin typeface="Calibri"/>
              </a:rPr>
              <a:t>5.  Soft launch internal 50 peserta sebelum public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126480"/>
            <a:ext cx="10515600" cy="12700"/>
          </a:xfrm>
          <a:prstGeom prst="rect">
            <a:avLst/>
          </a:prstGeom>
          <a:solidFill>
            <a:srgbClr val="C9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99A4B"/>
                </a:solidFill>
                <a:latin typeface="Calibri"/>
              </a:rPr>
              <a:t>Muhajir Project Tilawah · 2026 · Mei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