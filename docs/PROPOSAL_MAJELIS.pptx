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A3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0">
                <a:solidFill>
                  <a:srgbClr val="B8860B"/>
                </a:solidFill>
                <a:latin typeface="Traditional Arabic"/>
              </a:rPr>
              <a:t>بِسْمِ اللَّهِ الرَّحْمَٰنِ الرَّحِيمِ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11556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B8860B"/>
                </a:solidFill>
                <a:latin typeface="Calibri"/>
              </a:rPr>
              <a:t>PROPOSAL KEPADA MAJELIS</a:t>
            </a:r>
          </a:p>
          <a:p>
            <a:pPr algn="ctr">
              <a:spcBef>
                <a:spcPts val="1600"/>
              </a:spcBef>
            </a:pPr>
            <a:r>
              <a:rPr sz="4800" b="1">
                <a:solidFill>
                  <a:srgbClr val="FFFFFF"/>
                </a:solidFill>
                <a:latin typeface="Calibri"/>
              </a:rPr>
              <a:t>Asistensi Tilawah Al-Fatihah</a:t>
            </a:r>
          </a:p>
          <a:p>
            <a:pPr algn="ctr">
              <a:spcBef>
                <a:spcPts val="800"/>
              </a:spcBef>
            </a:pPr>
            <a:r>
              <a:rPr sz="2200" b="0">
                <a:solidFill>
                  <a:srgbClr val="E5C480"/>
                </a:solidFill>
                <a:latin typeface="Calibri"/>
              </a:rPr>
              <a:t>Memuliakan Bacaan Al-Quran lewat Pendampingan</a:t>
            </a:r>
          </a:p>
          <a:p>
            <a:pPr algn="ctr"/>
            <a:r>
              <a:rPr sz="2200" b="0">
                <a:solidFill>
                  <a:srgbClr val="E5C480"/>
                </a:solidFill>
                <a:latin typeface="Calibri"/>
              </a:rPr>
              <a:t>yang Tetap Berakar pada Ulama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61E2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Muhajir Project Tilawah</a:t>
            </a:r>
          </a:p>
          <a:p>
            <a:pPr algn="ctr"/>
            <a:r>
              <a:rPr sz="1000" b="0">
                <a:solidFill>
                  <a:srgbClr val="959CA8"/>
                </a:solidFill>
                <a:latin typeface="Calibri"/>
              </a:rPr>
              <a:t>Disampaikan oleh Tim MPT ·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920240" cy="292608"/>
          </a:xfrm>
          <a:prstGeom prst="roundRect">
            <a:avLst>
              <a:gd name="adj" fmla="val 5000"/>
            </a:avLst>
          </a:prstGeom>
          <a:solidFill>
            <a:srgbClr val="ECE3CD"/>
          </a:solidFill>
          <a:ln w="635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B8860B"/>
                </a:solidFill>
                <a:latin typeface="Calibri"/>
              </a:rPr>
              <a:t>MUKADIMAH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Assalamu'alaikum, dengan hormat kepada Majelis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A66"/>
                </a:solidFill>
                <a:latin typeface="Calibri"/>
              </a:rPr>
              <a:t>Ringkasan singkat sebelum kami uraikan teknis-nya.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642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327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Banyak saudara muslim kita merasa belum yakin dengan bacaan Al-Fatihah-nya.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rgbClr val="555A66"/>
                </a:solidFill>
                <a:latin typeface="Calibri"/>
              </a:rPr>
              <a:t>Sementara di sisi lain, jumlah pengajar yang qualified terbatas, dan kendala jadwal serta jarak membuat banyak yang akhirnya menunda — bahkan tidak pernah memperbaiki bacaannya.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555A66"/>
                </a:solidFill>
                <a:latin typeface="Calibri"/>
              </a:rPr>
              <a:t>Muhajir Project Tilawah adalah ikhtiar kami menjawab kebutuhan tersebut. Bukan untuk menggantikan peran ulama, justru sebaliknya — untuk menyaring dan mengarahkan calon murid sehingga waktu pengajar dapat dimanfaatkan untuk yang paling membutuhkan.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555A66"/>
                </a:solidFill>
                <a:latin typeface="Calibri"/>
              </a:rPr>
              <a:t>Proposal ini menjelaskan bagaimana cara kerjanya, prinsip syar'i yang kami jaga, dan permohonan kami kepada Majelis atas restu dan bimbingannya.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59CA8"/>
                </a:solidFill>
                <a:latin typeface="Calibri"/>
              </a:rPr>
              <a:t>Muhajir Project Tilawah · Proposal kepada Majelis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59CA8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920240" cy="292608"/>
          </a:xfrm>
          <a:prstGeom prst="roundRect">
            <a:avLst>
              <a:gd name="adj" fmla="val 5000"/>
            </a:avLst>
          </a:prstGeom>
          <a:solidFill>
            <a:srgbClr val="ECE3CD"/>
          </a:solidFill>
          <a:ln w="635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B8860B"/>
                </a:solidFill>
                <a:latin typeface="Calibri"/>
              </a:rPr>
              <a:t>LATAR BELAKANG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Tantangan yang Kami Hadapi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A66"/>
                </a:solidFill>
                <a:latin typeface="Calibri"/>
              </a:rPr>
              <a:t>Tiga hambatan utama yang dirasakan umat saat ingin memperbaiki bacaan.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007" y="2194560"/>
            <a:ext cx="356616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3767" y="2560320"/>
            <a:ext cx="640080" cy="64008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3767" y="2560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B8860B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767" y="34747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Calibri"/>
              </a:rPr>
              <a:t>Mayoritas Belum Mantap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3767" y="4114800"/>
            <a:ext cx="28346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A66"/>
                </a:solidFill>
                <a:latin typeface="Calibri"/>
              </a:rPr>
              <a:t>Banyak muslim yang sudah dewasa belum merasa yakin dengan bacaan Al-Fatihah-nya — padahal Al-Fatihah dibaca minimum 17 kali setiap hari dalam shalat fardhu.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2767" y="2194560"/>
            <a:ext cx="356616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78527" y="2560320"/>
            <a:ext cx="640080" cy="64008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8527" y="2560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B8860B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8527" y="34747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Calibri"/>
              </a:rPr>
              <a:t>Pengajar Terbatas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8527" y="4114800"/>
            <a:ext cx="28346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A66"/>
                </a:solidFill>
                <a:latin typeface="Calibri"/>
              </a:rPr>
              <a:t>Satu pengajar tahsin yang qualified bisa kewalahan menangani ratusan calon murid. Antrean panjang, slot mengajar terbatas oleh waktu fisik.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7527" y="2194560"/>
            <a:ext cx="356616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73287" y="2560320"/>
            <a:ext cx="640080" cy="64008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3287" y="2560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B8860B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3287" y="34747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Calibri"/>
              </a:rPr>
              <a:t>Hambatan Jadwal &amp; Jarak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3287" y="4114800"/>
            <a:ext cx="28346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A66"/>
                </a:solidFill>
                <a:latin typeface="Calibri"/>
              </a:rPr>
              <a:t>Banyak calon murid akhirnya menunda atau menyerah karena tidak cocok jam kerja, tinggal jauh dari pengajar, atau tidak tahu harus mulai dari mana.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59CA8"/>
                </a:solidFill>
                <a:latin typeface="Calibri"/>
              </a:rPr>
              <a:t>Muhajir Project Tilawah · Proposal kepada Majelis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59CA8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B8860B"/>
                </a:solidFill>
                <a:latin typeface="Calibri"/>
              </a:rPr>
              <a:t>VISI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18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0" b="0">
                <a:solidFill>
                  <a:srgbClr val="B8860B"/>
                </a:solidFill>
                <a:latin typeface="Calibri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183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Setiap muslim dapat memperbaiki bacaan</a:t>
            </a:r>
          </a:p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Al-Fatihah-nya — dengan panduan pengajar</a:t>
            </a:r>
          </a:p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yang qualified, mulai dari rumah.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5C480"/>
                </a:solidFill>
                <a:latin typeface="Calibri"/>
              </a:rPr>
              <a:t>— Visi MPT, ditujukan kepada umat Muslim di Indonesia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59CA8"/>
                </a:solidFill>
                <a:latin typeface="Calibri"/>
              </a:rPr>
              <a:t>Muhajir Project Tilawah · Proposal kepada Majelis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59CA8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920240" cy="292608"/>
          </a:xfrm>
          <a:prstGeom prst="roundRect">
            <a:avLst>
              <a:gd name="adj" fmla="val 5000"/>
            </a:avLst>
          </a:prstGeom>
          <a:solidFill>
            <a:srgbClr val="ECE3CD"/>
          </a:solidFill>
          <a:ln w="635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B8860B"/>
                </a:solidFill>
                <a:latin typeface="Calibri"/>
              </a:rPr>
              <a:t>CARA KERJA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Bagaimana Peserta Menggunakannya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A66"/>
                </a:solidFill>
                <a:latin typeface="Calibri"/>
              </a:rPr>
              <a:t>Tiga langkah sederhana — dapat dilakukan dari rumah lewat HP.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2194560"/>
            <a:ext cx="32918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447" y="246888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0" b="1">
                <a:solidFill>
                  <a:srgbClr val="E5C480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767" y="37490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Calibri"/>
              </a:rPr>
              <a:t>REKAM BACAAN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767" y="420624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5A66"/>
                </a:solidFill>
                <a:latin typeface="Calibri"/>
              </a:rPr>
              <a:t>Peserta merekam bacaan Al-Fatihah-nya lewat HP — hanya butuh 3 menit, tidak perlu install aplikasi apapun.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47007" y="3566160"/>
            <a:ext cx="457200" cy="365760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49927" y="2194560"/>
            <a:ext cx="32918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9927" y="246888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0" b="1">
                <a:solidFill>
                  <a:srgbClr val="E5C480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247" y="37490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Calibri"/>
              </a:rPr>
              <a:t>DAPAT RAPOT AWAL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4247" y="420624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5A66"/>
                </a:solidFill>
                <a:latin typeface="Calibri"/>
              </a:rPr>
              <a:t>AI memeriksa rekaman dan menghasilkan rapot awal dalam 30 detik. Rapot ini menunjukkan area yang perlu diperbaiki.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787487" y="3566160"/>
            <a:ext cx="457200" cy="365760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90407" y="2194560"/>
            <a:ext cx="32918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46888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0" b="1">
                <a:solidFill>
                  <a:srgbClr val="E5C480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4727" y="37490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Calibri"/>
              </a:rPr>
              <a:t>BERTEMU PENGAJAR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4727" y="420624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5A66"/>
                </a:solidFill>
                <a:latin typeface="Calibri"/>
              </a:rPr>
              <a:t>Peserta yang ingin lanjut, akan dipertemukan dengan pengajar via Zoom untuk pendampingan langsung dan ijazah.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6692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555A66"/>
                </a:solidFill>
                <a:latin typeface="Calibri"/>
              </a:rPr>
              <a:t>Setelah sesi pengajar, peserta dapat lanjut ke Tahsin 4-sesi → lulus → program lanjutan HITS.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59CA8"/>
                </a:solidFill>
                <a:latin typeface="Calibri"/>
              </a:rPr>
              <a:t>Muhajir Project Tilawah · Proposal kepada Majelis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59CA8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920240" cy="292608"/>
          </a:xfrm>
          <a:prstGeom prst="roundRect">
            <a:avLst>
              <a:gd name="adj" fmla="val 5000"/>
            </a:avLst>
          </a:prstGeom>
          <a:solidFill>
            <a:srgbClr val="ECE3CD"/>
          </a:solidFill>
          <a:ln w="635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B8860B"/>
                </a:solidFill>
                <a:latin typeface="Calibri"/>
              </a:rPr>
              <a:t>PENILAIAN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Empat Indikator yang Diperiksa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A66"/>
                </a:solidFill>
                <a:latin typeface="Calibri"/>
              </a:rPr>
              <a:t>Hanya kategori Lahn Jaliy (kesalahan jelas). Lahn Khafi tetap di tangan pengajar.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9467" y="210312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3787" y="2377440"/>
            <a:ext cx="1280160" cy="1280160"/>
          </a:xfrm>
          <a:prstGeom prst="roundRect">
            <a:avLst>
              <a:gd name="adj" fmla="val 5000"/>
            </a:avLst>
          </a:prstGeom>
          <a:solidFill>
            <a:srgbClr val="ECE3CD"/>
          </a:solidFill>
          <a:ln w="12700">
            <a:solidFill>
              <a:srgbClr val="E5C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3787" y="237744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>
                <a:solidFill>
                  <a:srgbClr val="1F2937"/>
                </a:solidFill>
                <a:latin typeface="Traditional Arabic"/>
              </a:rPr>
              <a:t>ا َ ِ 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1107" y="24231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Calibri"/>
              </a:rPr>
              <a:t>Harakat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1107" y="288036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A66"/>
                </a:solidFill>
                <a:latin typeface="Calibri"/>
              </a:rPr>
              <a:t>Tanda baca yang menentukan vokal — fathah, kasrah, dammah, sukun. AI mendeteksi kesalahan pembacaan tanda baca dasar.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10312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84467" y="2377440"/>
            <a:ext cx="1280160" cy="1280160"/>
          </a:xfrm>
          <a:prstGeom prst="roundRect">
            <a:avLst>
              <a:gd name="adj" fmla="val 5000"/>
            </a:avLst>
          </a:prstGeom>
          <a:solidFill>
            <a:srgbClr val="ECE3CD"/>
          </a:solidFill>
          <a:ln w="12700">
            <a:solidFill>
              <a:srgbClr val="E5C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4467" y="237744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>
                <a:solidFill>
                  <a:srgbClr val="1F2937"/>
                </a:solidFill>
                <a:latin typeface="Traditional Arabic"/>
              </a:rPr>
              <a:t>ع ح ق 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1787" y="24231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Calibri"/>
              </a:rPr>
              <a:t>Huruf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1787" y="288036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A66"/>
                </a:solidFill>
                <a:latin typeface="Calibri"/>
              </a:rPr>
              <a:t>Pengucapan huruf yang benar — makhraj (tempat keluar suara) dan sifat dasar. AI mendeteksi tukar huruf yang sering terjadi.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467" y="416052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3787" y="4434840"/>
            <a:ext cx="1280160" cy="1280160"/>
          </a:xfrm>
          <a:prstGeom prst="roundRect">
            <a:avLst>
              <a:gd name="adj" fmla="val 5000"/>
            </a:avLst>
          </a:prstGeom>
          <a:solidFill>
            <a:srgbClr val="ECE3CD"/>
          </a:solidFill>
          <a:ln w="12700">
            <a:solidFill>
              <a:srgbClr val="E5C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3787" y="443484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>
                <a:solidFill>
                  <a:srgbClr val="1F2937"/>
                </a:solidFill>
                <a:latin typeface="Traditional Arabic"/>
              </a:rPr>
              <a:t>ـا ـو ـي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1107" y="4480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Calibri"/>
              </a:rPr>
              <a:t>Panjang-Pendek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1107" y="493776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A66"/>
                </a:solidFill>
                <a:latin typeface="Calibri"/>
              </a:rPr>
              <a:t>Hukum mad — kapan suara harus dipanjangkan dan berapa lama. AI mendeteksi mad yang dipendekkan atau sebaliknya.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0147" y="416052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84467" y="4434840"/>
            <a:ext cx="1280160" cy="1280160"/>
          </a:xfrm>
          <a:prstGeom prst="roundRect">
            <a:avLst>
              <a:gd name="adj" fmla="val 5000"/>
            </a:avLst>
          </a:prstGeom>
          <a:solidFill>
            <a:srgbClr val="ECE3CD"/>
          </a:solidFill>
          <a:ln w="12700">
            <a:solidFill>
              <a:srgbClr val="E5C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4467" y="443484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>
                <a:solidFill>
                  <a:srgbClr val="1F2937"/>
                </a:solidFill>
                <a:latin typeface="Traditional Arabic"/>
              </a:rPr>
              <a:t>ـّ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1787" y="4480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Calibri"/>
              </a:rPr>
              <a:t>Syaddah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1787" y="493776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A66"/>
                </a:solidFill>
                <a:latin typeface="Calibri"/>
              </a:rPr>
              <a:t>Penekanan ganda pada huruf bertasydid. AI mendeteksi syaddah yang terlewat atau ditambahkan keliru.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6035040"/>
            <a:ext cx="11064240" cy="365760"/>
          </a:xfrm>
          <a:prstGeom prst="roundRect">
            <a:avLst>
              <a:gd name="adj" fmla="val 5000"/>
            </a:avLst>
          </a:prstGeom>
          <a:solidFill>
            <a:srgbClr val="ECE3CD"/>
          </a:solidFill>
          <a:ln w="635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Calibri"/>
              </a:rPr>
              <a:t>AI hanya mendeteksi 4 kategori di atas. Keputusan ijazah &amp; evaluasi mendalam tetap di tangan pengajar.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59CA8"/>
                </a:solidFill>
                <a:latin typeface="Calibri"/>
              </a:rPr>
              <a:t>Muhajir Project Tilawah · Proposal kepada Majelis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59CA8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920240" cy="292608"/>
          </a:xfrm>
          <a:prstGeom prst="roundRect">
            <a:avLst>
              <a:gd name="adj" fmla="val 5000"/>
            </a:avLst>
          </a:prstGeom>
          <a:solidFill>
            <a:srgbClr val="ECE3CD"/>
          </a:solidFill>
          <a:ln w="635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B8860B"/>
                </a:solidFill>
                <a:latin typeface="Calibri"/>
              </a:rPr>
              <a:t>PEMBAGIAN PERAN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AI sebagai Asisten — BUKAN Pengganti Pengajar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A66"/>
                </a:solidFill>
                <a:latin typeface="Calibri"/>
              </a:rPr>
              <a:t>Setiap peran punya batas yang jelas. AI menyaring, pengajar memutuskan.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3727" y="2103120"/>
            <a:ext cx="539496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3727" y="2103120"/>
            <a:ext cx="5394960" cy="502920"/>
          </a:xfrm>
          <a:prstGeom prst="roundRect">
            <a:avLst>
              <a:gd name="adj" fmla="val 5000"/>
            </a:avLst>
          </a:prstGeom>
          <a:solidFill>
            <a:srgbClr val="1F293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727" y="2103120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AI  (Mesin)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047" y="28803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B8860B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087" y="2880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Identifikasi kesalahan dasar (4 indikator)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047" y="33832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B8860B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8087" y="33832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Berikan laporan tekstual dalam 30 detik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047" y="38862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B8860B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8087" y="38862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Tersedia 24/7, dapat diakses kapan saja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047" y="43891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B8860B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8087" y="43891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Konsisten — tidak lelah, tidak emosional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047" y="48920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B8860B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8087" y="48920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Menyaring siapa yang siap untuk pengajar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2103120"/>
            <a:ext cx="539496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33007" y="2103120"/>
            <a:ext cx="5394960" cy="502920"/>
          </a:xfrm>
          <a:prstGeom prst="roundRect">
            <a:avLst>
              <a:gd name="adj" fmla="val 5000"/>
            </a:avLst>
          </a:prstGeom>
          <a:solidFill>
            <a:srgbClr val="B8860B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3007" y="2103120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PENGAJAR  (Manusia)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28803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2863A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7367" y="2880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Talaqqi langsung — sanad turun ke murid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327" y="33832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2863A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7367" y="33832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Koreksi adab, niat, dan tarbiyah ruhi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7327" y="38862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2863A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27367" y="38862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Evaluasi mendalam (Lahn Khafi &amp; lain-lain)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7" y="43891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2863A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7367" y="43891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Memberi ijazah dan sertifikasi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7327" y="48920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2863A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27367" y="48920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Keputusan akhir — di sisi syar'i &amp; teknis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52160"/>
            <a:ext cx="11064240" cy="502920"/>
          </a:xfrm>
          <a:prstGeom prst="roundRect">
            <a:avLst>
              <a:gd name="adj" fmla="val 5000"/>
            </a:avLst>
          </a:prstGeom>
          <a:solidFill>
            <a:srgbClr val="1F293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5C480"/>
                </a:solidFill>
                <a:latin typeface="Calibri"/>
              </a:rPr>
              <a:t>AI menyaring → Pengajar memutuskan. Efisien, tapi tetap berakar pada ulama.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59CA8"/>
                </a:solidFill>
                <a:latin typeface="Calibri"/>
              </a:rPr>
              <a:t>Muhajir Project Tilawah · Proposal kepada Majelis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59CA8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920240" cy="292608"/>
          </a:xfrm>
          <a:prstGeom prst="roundRect">
            <a:avLst>
              <a:gd name="adj" fmla="val 5000"/>
            </a:avLst>
          </a:prstGeom>
          <a:solidFill>
            <a:srgbClr val="ECE3CD"/>
          </a:solidFill>
          <a:ln w="635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B8860B"/>
                </a:solidFill>
                <a:latin typeface="Calibri"/>
              </a:rPr>
              <a:t>JALUR PENDAMPINGAN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Penyaringan Bertahap — 5 Tahap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A66"/>
                </a:solidFill>
                <a:latin typeface="Calibri"/>
              </a:rPr>
              <a:t>Setiap tahap menyaring. Yang lolos ke program lanjutan hanya yang benar-benar siap.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283" y="2194560"/>
            <a:ext cx="20574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0283" y="2194560"/>
            <a:ext cx="2057400" cy="365760"/>
          </a:xfrm>
          <a:prstGeom prst="roundRect">
            <a:avLst>
              <a:gd name="adj" fmla="val 5000"/>
            </a:avLst>
          </a:prstGeom>
          <a:solidFill>
            <a:srgbClr val="1F293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283" y="219456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TAHAP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443" y="2743200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Calibri"/>
              </a:rPr>
              <a:t>Rapot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7443" y="34290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5A66"/>
                </a:solidFill>
                <a:latin typeface="Calibri"/>
              </a:rPr>
              <a:t>Gratis, 30 detik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8923" y="4023360"/>
            <a:ext cx="960120" cy="18288"/>
          </a:xfrm>
          <a:prstGeom prst="rect">
            <a:avLst/>
          </a:prstGeom>
          <a:solidFill>
            <a:srgbClr val="E5E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7443" y="416052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959CA8"/>
                </a:solidFill>
                <a:latin typeface="Calibri"/>
              </a:rPr>
              <a:t>Yang Ikut: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7443" y="443484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Semua peserta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543403" y="3566160"/>
            <a:ext cx="164592" cy="274320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53715" y="2194560"/>
            <a:ext cx="20574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53715" y="2194560"/>
            <a:ext cx="2057400" cy="365760"/>
          </a:xfrm>
          <a:prstGeom prst="roundRect">
            <a:avLst>
              <a:gd name="adj" fmla="val 5000"/>
            </a:avLst>
          </a:prstGeom>
          <a:solidFill>
            <a:srgbClr val="1F293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53715" y="219456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TAHAP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0875" y="2743200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Calibri"/>
              </a:rPr>
              <a:t>Sesi 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0875" y="34290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5A66"/>
                </a:solidFill>
                <a:latin typeface="Calibri"/>
              </a:rPr>
              <a:t>60 menit · 12 peserta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02355" y="4023360"/>
            <a:ext cx="960120" cy="18288"/>
          </a:xfrm>
          <a:prstGeom prst="rect">
            <a:avLst/>
          </a:prstGeom>
          <a:solidFill>
            <a:srgbClr val="E5E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90875" y="416052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959CA8"/>
                </a:solidFill>
                <a:latin typeface="Calibri"/>
              </a:rPr>
              <a:t>Yang Ikut: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0875" y="443484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Yang tertarik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856835" y="3566160"/>
            <a:ext cx="164592" cy="274320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67147" y="2194560"/>
            <a:ext cx="20574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67147" y="2194560"/>
            <a:ext cx="2057400" cy="365760"/>
          </a:xfrm>
          <a:prstGeom prst="roundRect">
            <a:avLst>
              <a:gd name="adj" fmla="val 5000"/>
            </a:avLst>
          </a:prstGeom>
          <a:solidFill>
            <a:srgbClr val="B8860B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67147" y="219456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TAHAP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4307" y="2743200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Calibri"/>
              </a:rPr>
              <a:t>Tahsin Al-Fatihah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4307" y="34290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5A66"/>
                </a:solidFill>
                <a:latin typeface="Calibri"/>
              </a:rPr>
              <a:t>4 sesi × 90 menit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15787" y="4023360"/>
            <a:ext cx="960120" cy="18288"/>
          </a:xfrm>
          <a:prstGeom prst="rect">
            <a:avLst/>
          </a:prstGeom>
          <a:solidFill>
            <a:srgbClr val="E5E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04307" y="416052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959CA8"/>
                </a:solidFill>
                <a:latin typeface="Calibri"/>
              </a:rPr>
              <a:t>Yang Ikut: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04307" y="443484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Yang siap lanjut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170267" y="3566160"/>
            <a:ext cx="164592" cy="274320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80579" y="2194560"/>
            <a:ext cx="20574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80579" y="2194560"/>
            <a:ext cx="2057400" cy="365760"/>
          </a:xfrm>
          <a:prstGeom prst="roundRect">
            <a:avLst>
              <a:gd name="adj" fmla="val 5000"/>
            </a:avLst>
          </a:prstGeom>
          <a:solidFill>
            <a:srgbClr val="B8860B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80579" y="219456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TAHAP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17739" y="2743200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Calibri"/>
              </a:rPr>
              <a:t>Lulus Tahsin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17739" y="34290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5A66"/>
                </a:solidFill>
                <a:latin typeface="Calibri"/>
              </a:rPr>
              <a:t>≥ 3 dari 4 sesi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29219" y="4023360"/>
            <a:ext cx="960120" cy="18288"/>
          </a:xfrm>
          <a:prstGeom prst="rect">
            <a:avLst/>
          </a:prstGeom>
          <a:solidFill>
            <a:srgbClr val="E5E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17739" y="416052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959CA8"/>
                </a:solidFill>
                <a:latin typeface="Calibri"/>
              </a:rPr>
              <a:t>Yang Ikut: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17739" y="443484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Yang istiqomah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9483699" y="3566160"/>
            <a:ext cx="164592" cy="274320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694011" y="2194560"/>
            <a:ext cx="20574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694011" y="2194560"/>
            <a:ext cx="2057400" cy="365760"/>
          </a:xfrm>
          <a:prstGeom prst="roundRect">
            <a:avLst>
              <a:gd name="adj" fmla="val 5000"/>
            </a:avLst>
          </a:prstGeom>
          <a:solidFill>
            <a:srgbClr val="22863A"/>
          </a:solidFill>
          <a:ln w="12700">
            <a:solidFill>
              <a:srgbClr val="228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4011" y="219456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TAHAP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31171" y="2743200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Calibri"/>
              </a:rPr>
              <a:t>Program HITS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31171" y="34290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5A66"/>
                </a:solidFill>
                <a:latin typeface="Calibri"/>
              </a:rPr>
              <a:t>Lanjutan tilawah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242651" y="4023360"/>
            <a:ext cx="960120" cy="18288"/>
          </a:xfrm>
          <a:prstGeom prst="rect">
            <a:avLst/>
          </a:prstGeom>
          <a:solidFill>
            <a:srgbClr val="E5E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31171" y="416052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959CA8"/>
                </a:solidFill>
                <a:latin typeface="Calibri"/>
              </a:rPr>
              <a:t>Yang Ikut: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31171" y="443484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Alumni qualified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5A66"/>
                </a:solidFill>
                <a:latin typeface="Calibri"/>
              </a:rPr>
              <a:t>HITS Linktree (program lanjutan) HANYA muncul untuk peserta yang lulus Tahsin Al-Fatihah. Tidak ada jalan pintas — gating ini dirancang menjaga kualitas alumni.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59CA8"/>
                </a:solidFill>
                <a:latin typeface="Calibri"/>
              </a:rPr>
              <a:t>Muhajir Project Tilawah · Proposal kepada Majelis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59CA8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920240" cy="292608"/>
          </a:xfrm>
          <a:prstGeom prst="roundRect">
            <a:avLst>
              <a:gd name="adj" fmla="val 5000"/>
            </a:avLst>
          </a:prstGeom>
          <a:solidFill>
            <a:srgbClr val="ECE3CD"/>
          </a:solidFill>
          <a:ln w="635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B8860B"/>
                </a:solidFill>
                <a:latin typeface="Calibri"/>
              </a:rPr>
              <a:t>ADAB &amp; SYAR'I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Prinsip yang Kami Jaga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A66"/>
                </a:solidFill>
                <a:latin typeface="Calibri"/>
              </a:rPr>
              <a:t>Enam aturan adab yang melekat dalam desain sistem — bukan tempelan.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6587" y="2103120"/>
            <a:ext cx="54406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5187" y="2331720"/>
            <a:ext cx="502920" cy="502920"/>
          </a:xfrm>
          <a:prstGeom prst="ellipse">
            <a:avLst/>
          </a:prstGeom>
          <a:solidFill>
            <a:srgbClr val="22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187" y="23317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0987" y="2286000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Gender-matched STRICT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0987" y="2670048"/>
            <a:ext cx="4343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A66"/>
                </a:solidFill>
                <a:latin typeface="Calibri"/>
              </a:rPr>
              <a:t>Ikhwan dengan pengajar ikhwan, akhwat dengan pengajar akhwat. Sistem memfilter otomatis, tidak ada celah.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2103120"/>
            <a:ext cx="54406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93027" y="2331720"/>
            <a:ext cx="502920" cy="502920"/>
          </a:xfrm>
          <a:prstGeom prst="ellipse">
            <a:avLst/>
          </a:prstGeom>
          <a:solidFill>
            <a:srgbClr val="22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3027" y="23317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8827" y="2286000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Audio Peserta Dihapus 7 Hari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8827" y="2670048"/>
            <a:ext cx="4343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A66"/>
                </a:solidFill>
                <a:latin typeface="Calibri"/>
              </a:rPr>
              <a:t>Rekaman bacaan otomatis dihapus dari server dalam 7 hari. Tidak disimpan permanen, tidak diolah untuk training apapun.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6587" y="3566159"/>
            <a:ext cx="54406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5187" y="3794759"/>
            <a:ext cx="502920" cy="502920"/>
          </a:xfrm>
          <a:prstGeom prst="ellipse">
            <a:avLst/>
          </a:prstGeom>
          <a:solidFill>
            <a:srgbClr val="22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187" y="379475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0987" y="3749039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AI Tidak Beri Ijazah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0987" y="4133087"/>
            <a:ext cx="4343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A66"/>
                </a:solidFill>
                <a:latin typeface="Calibri"/>
              </a:rPr>
              <a:t>AI hanya menghasilkan rapot teknis. Sertifikasi/ijazah hanya dikeluarkan oleh pengajar manusia.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4427" y="3566159"/>
            <a:ext cx="54406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93027" y="3794759"/>
            <a:ext cx="502920" cy="502920"/>
          </a:xfrm>
          <a:prstGeom prst="ellipse">
            <a:avLst/>
          </a:prstGeom>
          <a:solidFill>
            <a:srgbClr val="22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3027" y="379475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8827" y="3749039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Keputusan Akhir di Pengajar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8827" y="4133087"/>
            <a:ext cx="4343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A66"/>
                </a:solidFill>
                <a:latin typeface="Calibri"/>
              </a:rPr>
              <a:t>Setiap kasus ambigu otomatis diserahkan ke pengajar untuk override manual. Pengajar bisa membatalkan keputusan AI kapanpun.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6587" y="5029200"/>
            <a:ext cx="54406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5187" y="5257800"/>
            <a:ext cx="502920" cy="502920"/>
          </a:xfrm>
          <a:prstGeom prst="ellipse">
            <a:avLst/>
          </a:prstGeom>
          <a:solidFill>
            <a:srgbClr val="22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187" y="52578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0987" y="5212080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Data Tidak Dijual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0987" y="5596128"/>
            <a:ext cx="4343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A66"/>
                </a:solidFill>
                <a:latin typeface="Calibri"/>
              </a:rPr>
              <a:t>Data peserta tidak dibagikan ke pihak ketiga, tidak diolah untuk iklan, tidak dimonetisasi.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4427" y="5029200"/>
            <a:ext cx="54406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93027" y="5257800"/>
            <a:ext cx="502920" cy="502920"/>
          </a:xfrm>
          <a:prstGeom prst="ellipse">
            <a:avLst/>
          </a:prstGeom>
          <a:solidFill>
            <a:srgbClr val="22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93027" y="52578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78827" y="5212080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Source Code Terbuka untuk Audit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78827" y="5596128"/>
            <a:ext cx="4343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A66"/>
                </a:solidFill>
                <a:latin typeface="Calibri"/>
              </a:rPr>
              <a:t>Source code dapat di-audit oleh tim teknis yang ditunjuk Majelis kapan saja. Tidak ada 'kotak hitam'.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59CA8"/>
                </a:solidFill>
                <a:latin typeface="Calibri"/>
              </a:rPr>
              <a:t>Muhajir Project Tilawah · Proposal kepada Majelis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59CA8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920240" cy="292608"/>
          </a:xfrm>
          <a:prstGeom prst="roundRect">
            <a:avLst>
              <a:gd name="adj" fmla="val 5000"/>
            </a:avLst>
          </a:prstGeom>
          <a:solidFill>
            <a:srgbClr val="ECE3CD"/>
          </a:solidFill>
          <a:ln w="635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B8860B"/>
                </a:solidFill>
                <a:latin typeface="Calibri"/>
              </a:rPr>
              <a:t>TIM &amp; TATA KELOLA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Tiga Lapis Pengawasan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A66"/>
                </a:solidFill>
                <a:latin typeface="Calibri"/>
              </a:rPr>
              <a:t>Dari syar'i hingga teknis — setiap lapis ada penanggung jawab yang jelas.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106424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109728" cy="1234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8860B"/>
                </a:solidFill>
                <a:latin typeface="Calibri"/>
              </a:rPr>
              <a:t>LAPIS 1 — SYAR'I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Penanggung Jawab Syar'i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6949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A66"/>
                </a:solidFill>
                <a:latin typeface="Calibri"/>
              </a:rPr>
              <a:t>Diharapkan ditunjuk oleh Majelis atau dari kalangan ulama yang ditunjuk Majelis. Bertanggung jawab atas adab, fiqh, dan kualitas keagamaan secara keseluruhan. Memiliki hak veto.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6424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109728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Calibri"/>
              </a:rPr>
              <a:t>LAPIS 2 — PENDIDIKAN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31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Tim Pengajar (Ustadz/Ustadzah)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657600"/>
            <a:ext cx="6949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A66"/>
                </a:solidFill>
                <a:latin typeface="Calibri"/>
              </a:rPr>
              <a:t>Para alumni sanad bersertifikasi yang menjadi penjaga kualitas talaqqi. Mereka yang berhadapan langsung dengan peserta dan memberi ijazah. Saat ini target perekrutan: 4-6 pengajar awal.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109728" cy="1234440"/>
          </a:xfrm>
          <a:prstGeom prst="rect">
            <a:avLst/>
          </a:prstGeom>
          <a:solidFill>
            <a:srgbClr val="555A66"/>
          </a:solidFill>
          <a:ln w="12700">
            <a:solidFill>
              <a:srgbClr val="55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29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55A66"/>
                </a:solidFill>
                <a:latin typeface="Calibri"/>
              </a:rPr>
              <a:t>LAPIS 3 — TEKNIS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03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Tim Pengembang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029200"/>
            <a:ext cx="6949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A66"/>
                </a:solidFill>
                <a:latin typeface="Calibri"/>
              </a:rPr>
              <a:t>Hilmi Sobandi (project lead) dan tim teknis. Bertanggung jawab atas infrastruktur, keamanan data, dan kelangsungan operasional platform. Tidak mengambil keputusan syar'i.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Calibri"/>
              </a:rPr>
              <a:t>Tim teknis tidak akan mengambil keputusan syar'i. Setiap perubahan kebijakan adab → harus melalui Lapis 1.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59CA8"/>
                </a:solidFill>
                <a:latin typeface="Calibri"/>
              </a:rPr>
              <a:t>Muhajir Project Tilawah · Proposal kepada Majelis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59CA8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B8860B"/>
                </a:solidFill>
                <a:latin typeface="Calibri"/>
              </a:rPr>
              <a:t>PERMOHONAN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Mohon Restu &amp; Bimbingan Majelis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047" y="233172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293342"/>
          </a:solidFill>
          <a:ln w="12700">
            <a:solidFill>
              <a:srgbClr val="35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3807" y="233172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200" b="1">
                <a:solidFill>
                  <a:srgbClr val="B8860B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2527" y="2560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Restu untuk Meluncurkan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2527" y="29260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C480"/>
                </a:solidFill>
                <a:latin typeface="Calibri"/>
              </a:rPr>
              <a:t>Restu Majelis agar proyek ini dapat hadir sebagai sarana dakwah — membantu lebih banyak muslim memperbaiki bacaan Al-Fatihah-nya.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8047" y="3593591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293342"/>
          </a:solidFill>
          <a:ln w="12700">
            <a:solidFill>
              <a:srgbClr val="35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3807" y="3593591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200" b="1">
                <a:solidFill>
                  <a:srgbClr val="B8860B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2527" y="3822191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Bimbingan dalam Pemilihan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2527" y="4187951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C480"/>
                </a:solidFill>
                <a:latin typeface="Calibri"/>
              </a:rPr>
              <a:t>Bimbingan Majelis dalam memilih Penanggung Jawab Syar'i dan pengajar yang qualified — ini krusial untuk kualitas keseluruhan.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8047" y="4855464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293342"/>
          </a:solidFill>
          <a:ln w="12700">
            <a:solidFill>
              <a:srgbClr val="35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3807" y="4855464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200" b="1">
                <a:solidFill>
                  <a:srgbClr val="B8860B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2527" y="5084064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Evaluasi Berkala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2527" y="544982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C480"/>
                </a:solidFill>
                <a:latin typeface="Calibri"/>
              </a:rPr>
              <a:t>Evaluasi setiap 3-6 bulan agar Majelis dapat memantau adab tetap terjaga dan memberi koreksi bila perlu. Kami siap akuntabel.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B8860B"/>
                </a:solidFill>
                <a:latin typeface="Traditional Arabic"/>
              </a:rPr>
              <a:t>بَارَكَ اللَّهُ فِيكُمْ  ·  Barakallahu fiikum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